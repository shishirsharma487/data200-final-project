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Navaraj. [0:00 to 0:20] Introduce the group and the title question: do more weekly training sessions, or more weekly sets, go with bigger gains in muscle size and strength? Say at once that the data are real and published, from a meta-analysis (Pelland et al., 2026), so the numbers are group averages from studies, not individual lifters.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Navaraj. [0:20 to 1:00] Start from the everyday gym questions: how often to train a muscle and how many hard sets to do per week. Both are easy to change, so people argue about them. Our data are real: the open dataset behind a published meta-regression, 70 studies, 229 group-outcome rows after cleaning. Be clear that each row is a group average, so we describe groups and show association, not cause. The file has no usable protein variable, so our second predictor is weekly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Navaraj. [1:00 to 1:40] State the problem in one sentence, then the four research questions. Each has a null hypothesis we wrote before any test (alpha = .05, two-sided). We keep frequency and volume in the same model because they are tangled: groups that train more often also tend to do more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Abdul. [1:40 to 2:30] Schoenfeld et al. (2016): with volume equal, training a muscle twice a week beat once a week, but twice versus three times could not be separated. Pelland et al. (2026): 67 studies and 2,058 people; once volume was counted, frequency mattered little for muscle, while strength kept rising with frequency. Morton (2018) and Tagawa (2021) on protein explain why we wanted protein, but our file has no numeric protein column. So we expect volume to matter for muscle size and frequency for strength. Meta-analyses report averages across groups, not what happens to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Abdul. [2:30 to 3:10] The data come from the Open Science Framework project of Pelland et al. (osf.io/6z3xu). We saved the Excel file exactly as downloaded and never edit it; we checked it is identical to the file in the OSF download. One row is one outcome in one training group: a group average, not a person. 710 rows, 70 studies, 168 groups. The paper's main models used 67 studies, so our numbers will not match the paper's exactly. No numeric protein variable, so weekly volume is our second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Abdul. [3:10 to 4:00] Left: both gains are higher at 3 or more sessions per week. Right: hypertrophy rises with weekly sets above about 20, while strength looks flat. Raw correlations: frequency goes with both outcomes (r = .27 and .21), weekly sets only with hypertrophy (r = .21 and -.09), and trained groups gain less (beginners improve fastest). After Holm's adjustment only frequency with strength and training status with strength stay below .05. The lowest frequency level has only 8 hypertrophy groups and 19 strength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Shishir. [4:00 to 4:40] Outcome: percent change from each group's own starting average, so different tests are comparable. No duplicates, no impossible values, 8 rows missing percent male. We removed 60 no-training control rows from the models, and they work as a sanity check: controls changed about -0.3% (muscle) and -2.7% (strength), training groups +7.0% and +15.8%. We averaged measures within each group and outcome to avoid counting the same people several times (233 rows), then dropped 4 rows with no sex information: 229 rows, 79 hypertrophy and 150 strength. Five unusual groups were flagged and kept; we test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Shishir. [4:40 to 5:30] Why these models. Regression adjusts for weeks, age, percent male and training status and gives effect sizes with intervals. Model 1: frequency. Model 2: add weekly sets. Model 3: add the interaction for RQ4. We also tried a curved volume term. Groups are weighted by size, and standard errors are clustered by study because groups in the same study share a lab and a population: the intraclass correlation is .55 and .81. ANOVA and ANCOVA are cross-checks; a mixed model is a robustness check. Be open that the validation splits whole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Prasanna. [5:30 to 6:25] Muscle growth. Frequency alone looks useful: +1.23 points per session. Once weekly sets enter the model, frequency shrinks to +0.69 and is not significant, while volume is +2.39 points per 10 extra sets (95% CI 1.11 to 3.68, p = .001). A lot of the frequency effect was really volume. We reject H0 for RQ2 but not for RQ1. Trained groups gain about 3.8 points less than untrained ones. Right: predicted change rises with weekly sets for hypertrophy and is flat for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Prasanna. [6:25 to 7:05] Strength. After accounting for volume, each extra weekly session goes with about +1.98 points of strength gain (95% CI 0.25 to 3.70, p = .025). Weekly sets does not matter for strength (+0.81, p = .402). ANOVA agrees in direction: 3 or more sessions beat 1 or fewer by 7.7 points (Tukey p = .011), though that group is small. Adjusted means 12.1%, 15.5%, 18.1%. Association, not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Prasanna. [7:05 to 7:35] For muscle size the lines are parallel: no interaction (p = .986). For strength the interaction is negative (-1.60, p = .040): an extra session adds about 3.7 points at low volume, 2.2 at average and 0.7 at high volume. Be open that this is suggestive: the study-level bootstrap interval (-3.36 to 0.02) just reaches zero and we tested four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Prasanna. [7:35 to 8:25 on the slide, then about 75 seconds of live Streamlit demo] Evaluation metrics. R-squared of Model 2 is .283 for muscle and .205 for strength on all groups. When whole studies are held out, cross-validated R-squared is -.15 for muscle (worse than guessing the average) and .03 for strength (.05 for Models 1 and 3); typical miss 4.9 and 10.0 points. So the models describe association but predict a new study poorly. Assumptions: residuals are skewed, so we use clustered errors and a study-level bootstrap (2,000 resamples), and five different setups give the same conclusions. Then say: now we show how this works in the Streamlit app, and switch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Navaraj, then all four for questions. [9:30 to 10:00] Back from the Streamlit demo. Three takeaways, then limits and the next step. Close by saying the project shows a complete, honest workflow on real published data, that the data are group averages, and that individual-level data with measured protein is the natural next step.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open it if someone asks where a source comes from. Full APA references are also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1E9"/>
        </a:solidFill>
      </p:bgPr>
    </p:bg>
    <p:spTree>
      <p:nvGrpSpPr>
        <p:cNvPr id="1" name=""/>
        <p:cNvGrpSpPr/>
        <p:nvPr/>
      </p:nvGrpSpPr>
      <p:grpSpPr>
        <a:xfrm>
          <a:off x="0" y="0"/>
          <a:ext cx="0" cy="0"/>
          <a:chOff x="0" y="0"/>
          <a:chExt cx="0" cy="0"/>
        </a:xfrm>
      </p:grpSpPr>
      <p:sp>
        <p:nvSpPr>
          <p:cNvPr id="2" name="Title Placeholder 1"/>
          <p:cNvSpPr/>
          <p:nvPr>
            <p:ph type="title"/>
          </p:nvPr>
        </p:nvSpPr>
        <p:spPr>
          <a:xfrm>
            <a:off x="635000" y="0"/>
            <a:ext cx="9525000" cy="474960"/>
          </a:xfrm>
          <a:prstGeom prst="rect">
            <a:avLst/>
          </a:prstGeom>
          <a:noFill/>
          <a:ln/>
        </p:spPr>
        <p:txBody>
          <a:bodyPr wrap="square" lIns="0" tIns="0" rIns="0" bIns="0" rtlCol="0" anchor="t"/>
          <a:lstStyle>
            <a:lvl1pPr algn="l" indent="0" marL="0">
              <a:lnSpc>
                <a:spcPct val="115000"/>
              </a:lnSpc>
              <a:buNone/>
              <a:defRPr lang="en-US" sz="3400" dirty="0">
                <a:solidFill>
                  <a:srgbClr val="2B1417"/>
                </a:solidFill>
                <a:latin typeface="Poppins" pitchFamily="34" charset="0"/>
                <a:ea typeface="Poppins" pitchFamily="34" charset="-122"/>
                <a:cs typeface="Poppi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635000" y="779760"/>
            <a:ext cx="10744200" cy="5265440"/>
          </a:xfrm>
          <a:prstGeom prst="rect">
            <a:avLst/>
          </a:prstGeom>
          <a:noFill/>
          <a:ln/>
        </p:spPr>
        <p:txBody>
          <a:bodyPr wrap="square" lIns="0" tIns="0" rIns="0" bIns="0" rtlCol="0" anchor="t"/>
          <a:lstStyle>
            <a:lvl1pPr algn="l" indent="0" marL="0">
              <a:lnSpc>
                <a:spcPct val="140000"/>
              </a:lnSpc>
              <a:buNone/>
              <a:defRPr lang="en-US" sz="1600" dirty="0">
                <a:solidFill>
                  <a:srgbClr val="2B141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1E9"/>
        </a:solidFill>
      </p:bgPr>
    </p:bg>
    <p:spTree>
      <p:nvGrpSpPr>
        <p:cNvPr id="1" name=""/>
        <p:cNvGrpSpPr/>
        <p:nvPr/>
      </p:nvGrpSpPr>
      <p:grpSpPr>
        <a:xfrm>
          <a:off x="0" y="0"/>
          <a:ext cx="0" cy="0"/>
          <a:chOff x="0" y="0"/>
          <a:chExt cx="0" cy="0"/>
        </a:xfrm>
      </p:grpSpPr>
      <p:sp>
        <p:nvSpPr>
          <p:cNvPr id="2" name="Title Placeholder 1"/>
          <p:cNvSpPr/>
          <p:nvPr>
            <p:ph type="title"/>
          </p:nvPr>
        </p:nvSpPr>
        <p:spPr>
          <a:xfrm>
            <a:off x="635000" y="0"/>
            <a:ext cx="9525000" cy="474960"/>
          </a:xfrm>
          <a:prstGeom prst="rect">
            <a:avLst/>
          </a:prstGeom>
          <a:noFill/>
          <a:ln/>
        </p:spPr>
        <p:txBody>
          <a:bodyPr wrap="square" lIns="0" tIns="0" rIns="0" bIns="0" rtlCol="0" anchor="t"/>
          <a:lstStyle>
            <a:lvl1pPr algn="l" indent="0" marL="0">
              <a:lnSpc>
                <a:spcPct val="115000"/>
              </a:lnSpc>
              <a:buNone/>
              <a:defRPr lang="en-US" sz="3400" dirty="0">
                <a:solidFill>
                  <a:srgbClr val="2B1417"/>
                </a:solidFill>
                <a:latin typeface="Poppins" pitchFamily="34" charset="0"/>
                <a:ea typeface="Poppins" pitchFamily="34" charset="-122"/>
                <a:cs typeface="Poppi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635000" y="779760"/>
            <a:ext cx="10744200" cy="5265440"/>
          </a:xfrm>
          <a:prstGeom prst="rect">
            <a:avLst/>
          </a:prstGeom>
          <a:noFill/>
          <a:ln/>
        </p:spPr>
        <p:txBody>
          <a:bodyPr wrap="square" lIns="0" tIns="0" rIns="0" bIns="0" rtlCol="0" anchor="t"/>
          <a:lstStyle>
            <a:lvl1pPr algn="l" indent="0" marL="0">
              <a:lnSpc>
                <a:spcPct val="140000"/>
              </a:lnSpc>
              <a:buNone/>
              <a:defRPr lang="en-US" sz="1600" dirty="0">
                <a:solidFill>
                  <a:srgbClr val="2B141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252C"/>
        </a:solidFill>
      </p:bgPr>
    </p:bg>
    <p:spTree>
      <p:nvGrpSpPr>
        <p:cNvPr id="1" name=""/>
        <p:cNvGrpSpPr/>
        <p:nvPr/>
      </p:nvGrpSpPr>
      <p:grpSpPr>
        <a:xfrm>
          <a:off x="0" y="0"/>
          <a:ext cx="0" cy="0"/>
          <a:chOff x="0" y="0"/>
          <a:chExt cx="0" cy="0"/>
        </a:xfrm>
      </p:grpSpPr>
      <p:sp>
        <p:nvSpPr>
          <p:cNvPr id="2" name="Shape 0"/>
          <p:cNvSpPr/>
          <p:nvPr/>
        </p:nvSpPr>
        <p:spPr>
          <a:xfrm>
            <a:off x="7493000" y="2413000"/>
            <a:ext cx="6985000" cy="6985000"/>
          </a:xfrm>
          <a:prstGeom prst="roundRect">
            <a:avLst>
              <a:gd name="adj" fmla="val 23273"/>
            </a:avLst>
          </a:prstGeom>
          <a:solidFill>
            <a:srgbClr val="9E3F3F">
              <a:alpha val="35000"/>
            </a:srgbClr>
          </a:solidFill>
          <a:ln/>
        </p:spPr>
      </p:sp>
      <p:sp>
        <p:nvSpPr>
          <p:cNvPr id="3" name="Shape 1"/>
          <p:cNvSpPr/>
          <p:nvPr/>
        </p:nvSpPr>
        <p:spPr>
          <a:xfrm>
            <a:off x="9017000" y="0"/>
            <a:ext cx="4445000" cy="4445000"/>
          </a:xfrm>
          <a:prstGeom prst="roundRect">
            <a:avLst>
              <a:gd name="adj" fmla="val 36571"/>
            </a:avLst>
          </a:prstGeom>
          <a:solidFill>
            <a:srgbClr val="7A2F36"/>
          </a:solidFill>
          <a:ln/>
        </p:spPr>
      </p:sp>
      <p:sp>
        <p:nvSpPr>
          <p:cNvPr id="4" name="Shape 2"/>
          <p:cNvSpPr/>
          <p:nvPr/>
        </p:nvSpPr>
        <p:spPr>
          <a:xfrm>
            <a:off x="0" y="0"/>
            <a:ext cx="177800" cy="6858000"/>
          </a:xfrm>
          <a:prstGeom prst="rect">
            <a:avLst/>
          </a:prstGeom>
          <a:solidFill>
            <a:srgbClr val="C97979"/>
          </a:solidFill>
          <a:ln/>
        </p:spPr>
      </p:sp>
      <p:sp>
        <p:nvSpPr>
          <p:cNvPr id="5" name="Text 3"/>
          <p:cNvSpPr/>
          <p:nvPr/>
        </p:nvSpPr>
        <p:spPr>
          <a:xfrm>
            <a:off x="825500" y="952500"/>
            <a:ext cx="9810750" cy="327620"/>
          </a:xfrm>
          <a:prstGeom prst="rect">
            <a:avLst/>
          </a:prstGeom>
          <a:noFill/>
          <a:ln/>
        </p:spPr>
        <p:txBody>
          <a:bodyPr wrap="square" lIns="0" tIns="0" rIns="0" bIns="0" rtlCol="0" anchor="t">
            <a:normAutofit/>
          </a:bodyPr>
          <a:lstStyle/>
          <a:p>
            <a:pPr algn="l" indent="0" marL="0">
              <a:lnSpc>
                <a:spcPts val="2380"/>
              </a:lnSpc>
              <a:buNone/>
            </a:pPr>
            <a:r>
              <a:rPr lang="en-US" sz="1700" b="1" spc="200" kern="0" dirty="0">
                <a:solidFill>
                  <a:srgbClr val="C97979"/>
                </a:solidFill>
                <a:latin typeface="Inter" pitchFamily="34" charset="0"/>
                <a:ea typeface="Inter" pitchFamily="34" charset="-122"/>
                <a:cs typeface="Inter" pitchFamily="34" charset="-120"/>
              </a:rPr>
              <a:t>DATA200 · APPLIED STATISTICAL ANALYSIS</a:t>
            </a:r>
            <a:endParaRPr lang="en-US" sz="1700" dirty="0"/>
          </a:p>
        </p:txBody>
      </p:sp>
      <p:sp>
        <p:nvSpPr>
          <p:cNvPr id="6" name="Text 4"/>
          <p:cNvSpPr/>
          <p:nvPr>
            <p:ph type="title"/>
          </p:nvPr>
        </p:nvSpPr>
        <p:spPr>
          <a:xfrm>
            <a:off x="825500" y="148332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FFFFF"/>
                </a:solidFill>
                <a:latin typeface="Poppins" pitchFamily="34" charset="0"/>
                <a:ea typeface="Poppins" pitchFamily="34" charset="-122"/>
                <a:cs typeface="Poppins" pitchFamily="34" charset="-120"/>
              </a:rPr>
              <a:t>Training Frequency, Weekly Volume, and Muscle and Strength Gains</a:t>
            </a:r>
            <a:endParaRPr lang="en-US" sz="4600" dirty="0"/>
          </a:p>
        </p:txBody>
      </p:sp>
      <p:sp>
        <p:nvSpPr>
          <p:cNvPr id="7" name="Text 5"/>
          <p:cNvSpPr/>
          <p:nvPr/>
        </p:nvSpPr>
        <p:spPr>
          <a:xfrm>
            <a:off x="825500" y="3639542"/>
            <a:ext cx="9810750" cy="372070"/>
          </a:xfrm>
          <a:prstGeom prst="rect">
            <a:avLst/>
          </a:prstGeom>
          <a:noFill/>
          <a:ln/>
        </p:spPr>
        <p:txBody>
          <a:bodyPr wrap="square" lIns="0" tIns="0" rIns="0" bIns="0" rtlCol="0" anchor="t">
            <a:normAutofit/>
          </a:bodyPr>
          <a:lstStyle/>
          <a:p>
            <a:pPr algn="l" indent="0" marL="0">
              <a:lnSpc>
                <a:spcPts val="2730"/>
              </a:lnSpc>
              <a:buNone/>
            </a:pPr>
            <a:r>
              <a:rPr lang="en-US" sz="2100" dirty="0">
                <a:solidFill>
                  <a:srgbClr val="EBD3CB"/>
                </a:solidFill>
                <a:latin typeface="Inter" pitchFamily="34" charset="0"/>
                <a:ea typeface="Inter" pitchFamily="34" charset="-122"/>
                <a:cs typeface="Inter" pitchFamily="34" charset="-120"/>
              </a:rPr>
              <a:t>Open resistance-training data (Pelland et al., 2026)</a:t>
            </a:r>
            <a:endParaRPr lang="en-US" sz="2100" dirty="0"/>
          </a:p>
        </p:txBody>
      </p:sp>
      <p:sp>
        <p:nvSpPr>
          <p:cNvPr id="8" name="Shape 6"/>
          <p:cNvSpPr/>
          <p:nvPr/>
        </p:nvSpPr>
        <p:spPr>
          <a:xfrm>
            <a:off x="825500" y="4214813"/>
            <a:ext cx="1397000" cy="50800"/>
          </a:xfrm>
          <a:prstGeom prst="roundRect">
            <a:avLst>
              <a:gd name="adj" fmla="val 50000"/>
            </a:avLst>
          </a:prstGeom>
          <a:solidFill>
            <a:srgbClr val="C97979"/>
          </a:solidFill>
          <a:ln/>
        </p:spPr>
      </p:sp>
      <p:sp>
        <p:nvSpPr>
          <p:cNvPr id="9" name="Text 7"/>
          <p:cNvSpPr/>
          <p:nvPr/>
        </p:nvSpPr>
        <p:spPr>
          <a:xfrm>
            <a:off x="825500" y="4494213"/>
            <a:ext cx="9810750" cy="848320"/>
          </a:xfrm>
          <a:prstGeom prst="rect">
            <a:avLst/>
          </a:prstGeom>
          <a:noFill/>
          <a:ln/>
        </p:spPr>
        <p:txBody>
          <a:bodyPr wrap="square" lIns="0" tIns="0" rIns="0" bIns="0" rtlCol="0" anchor="t">
            <a:normAutofit/>
          </a:bodyPr>
          <a:lstStyle/>
          <a:p>
            <a:pPr algn="l" indent="0" marL="0">
              <a:lnSpc>
                <a:spcPts val="3240"/>
              </a:lnSpc>
              <a:buNone/>
            </a:pPr>
            <a:r>
              <a:rPr lang="en-US" sz="2400" b="1" dirty="0">
                <a:solidFill>
                  <a:srgbClr val="FFFFFF"/>
                </a:solidFill>
                <a:latin typeface="Poppins" pitchFamily="34" charset="0"/>
                <a:ea typeface="Poppins" pitchFamily="34" charset="-122"/>
                <a:cs typeface="Poppins" pitchFamily="34" charset="-120"/>
              </a:rPr>
              <a:t>Navaraj Thapa · Abdul Sheikh</a:t>
            </a:r>
            <a:endParaRPr lang="en-US" sz="2400" dirty="0"/>
          </a:p>
          <a:p>
            <a:pPr algn="l" indent="0" marL="0">
              <a:lnSpc>
                <a:spcPts val="3240"/>
              </a:lnSpc>
              <a:buNone/>
            </a:pPr>
            <a:r>
              <a:rPr lang="en-US" sz="2400" b="1" dirty="0">
                <a:solidFill>
                  <a:srgbClr val="FFFFFF"/>
                </a:solidFill>
                <a:latin typeface="Poppins" pitchFamily="34" charset="0"/>
                <a:ea typeface="Poppins" pitchFamily="34" charset="-122"/>
                <a:cs typeface="Poppins" pitchFamily="34" charset="-120"/>
              </a:rPr>
              <a:t>Shishir Sharma · Prasanna Shakya</a:t>
            </a:r>
            <a:endParaRPr lang="en-US" sz="2400" dirty="0"/>
          </a:p>
        </p:txBody>
      </p:sp>
      <p:sp>
        <p:nvSpPr>
          <p:cNvPr id="10" name="Text 8"/>
          <p:cNvSpPr/>
          <p:nvPr/>
        </p:nvSpPr>
        <p:spPr>
          <a:xfrm>
            <a:off x="825500" y="5545733"/>
            <a:ext cx="98107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BD3CB"/>
                </a:solidFill>
                <a:latin typeface="Inter" pitchFamily="34" charset="0"/>
                <a:ea typeface="Inter" pitchFamily="34" charset="-122"/>
                <a:cs typeface="Inter" pitchFamily="34" charset="-120"/>
              </a:rPr>
              <a:t>October 2026</a:t>
            </a:r>
            <a:endParaRPr lang="en-US" sz="1700" dirty="0"/>
          </a:p>
        </p:txBody>
      </p:sp>
      <p:sp>
        <p:nvSpPr>
          <p:cNvPr id="11" name="Text 9"/>
          <p:cNvSpPr/>
          <p:nvPr/>
        </p:nvSpPr>
        <p:spPr>
          <a:xfrm>
            <a:off x="825500" y="6096000"/>
            <a:ext cx="9156700" cy="5588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EBD3CB"/>
                </a:solidFill>
                <a:latin typeface="Inter" pitchFamily="34" charset="0"/>
                <a:ea typeface="Inter" pitchFamily="34" charset="-122"/>
                <a:cs typeface="Inter" pitchFamily="34" charset="-120"/>
              </a:rPr>
              <a:t>Real, published data. Each row is a group average, so results describe groups and show association, not cause.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Introduction</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2</a:t>
            </a:r>
            <a:endParaRPr lang="en-US" sz="2000" dirty="0"/>
          </a:p>
        </p:txBody>
      </p:sp>
      <p:sp>
        <p:nvSpPr>
          <p:cNvPr id="6" name="Shape 4"/>
          <p:cNvSpPr/>
          <p:nvPr/>
        </p:nvSpPr>
        <p:spPr>
          <a:xfrm>
            <a:off x="635000" y="1689398"/>
            <a:ext cx="127000" cy="127000"/>
          </a:xfrm>
          <a:prstGeom prst="roundRect">
            <a:avLst>
              <a:gd name="adj" fmla="val 20000"/>
            </a:avLst>
          </a:prstGeom>
          <a:solidFill>
            <a:srgbClr val="9E3F3F"/>
          </a:solidFill>
          <a:ln/>
        </p:spPr>
      </p:sp>
      <p:sp>
        <p:nvSpPr>
          <p:cNvPr id="7" name="Text 5"/>
          <p:cNvSpPr/>
          <p:nvPr/>
        </p:nvSpPr>
        <p:spPr>
          <a:xfrm>
            <a:off x="914400" y="1689398"/>
            <a:ext cx="6514338" cy="1156791"/>
          </a:xfrm>
          <a:prstGeom prst="rect">
            <a:avLst/>
          </a:prstGeom>
          <a:noFill/>
          <a:ln/>
        </p:spPr>
        <p:txBody>
          <a:bodyPr wrap="square" lIns="0" tIns="0" rIns="0" bIns="0" rtlCol="0" anchor="t">
            <a:normAutofit/>
          </a:bodyPr>
          <a:lstStyle/>
          <a:p>
            <a:pPr algn="l" indent="0" marL="0">
              <a:lnSpc>
                <a:spcPts val="2970"/>
              </a:lnSpc>
              <a:buNone/>
            </a:pPr>
            <a:r>
              <a:rPr lang="en-US" sz="2200" b="1" dirty="0">
                <a:solidFill>
                  <a:srgbClr val="2B1417"/>
                </a:solidFill>
                <a:latin typeface="Inter" pitchFamily="34" charset="0"/>
                <a:ea typeface="Inter" pitchFamily="34" charset="-122"/>
                <a:cs typeface="Inter" pitchFamily="34" charset="-120"/>
              </a:rPr>
              <a:t>Gym advice is easy to repeat and hard to check.</a:t>
            </a:r>
            <a:r>
              <a:rPr lang="en-US" sz="2200" dirty="0">
                <a:solidFill>
                  <a:srgbClr val="2B1417"/>
                </a:solidFill>
                <a:latin typeface="Inter" pitchFamily="34" charset="0"/>
                <a:ea typeface="Inter" pitchFamily="34" charset="-122"/>
                <a:cs typeface="Inter" pitchFamily="34" charset="-120"/>
              </a:rPr>
              <a:t> How often to train a muscle and how many sets to do are easy to change.</a:t>
            </a:r>
            <a:endParaRPr lang="en-US" sz="2200" dirty="0"/>
          </a:p>
        </p:txBody>
      </p:sp>
      <p:sp>
        <p:nvSpPr>
          <p:cNvPr id="8" name="Shape 6"/>
          <p:cNvSpPr/>
          <p:nvPr/>
        </p:nvSpPr>
        <p:spPr>
          <a:xfrm>
            <a:off x="635000" y="3011289"/>
            <a:ext cx="127000" cy="127000"/>
          </a:xfrm>
          <a:prstGeom prst="roundRect">
            <a:avLst>
              <a:gd name="adj" fmla="val 20000"/>
            </a:avLst>
          </a:prstGeom>
          <a:solidFill>
            <a:srgbClr val="9E3F3F"/>
          </a:solidFill>
          <a:ln/>
        </p:spPr>
      </p:sp>
      <p:sp>
        <p:nvSpPr>
          <p:cNvPr id="9" name="Text 7"/>
          <p:cNvSpPr/>
          <p:nvPr/>
        </p:nvSpPr>
        <p:spPr>
          <a:xfrm>
            <a:off x="914400" y="3011289"/>
            <a:ext cx="6514338" cy="115679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2B1417"/>
                </a:solidFill>
                <a:latin typeface="Inter" pitchFamily="34" charset="0"/>
                <a:ea typeface="Inter" pitchFamily="34" charset="-122"/>
                <a:cs typeface="Inter" pitchFamily="34" charset="-120"/>
              </a:rPr>
              <a:t>We ask how weekly </a:t>
            </a:r>
            <a:r>
              <a:rPr lang="en-US" sz="2200" b="1" dirty="0">
                <a:solidFill>
                  <a:srgbClr val="2B1417"/>
                </a:solidFill>
                <a:latin typeface="Inter" pitchFamily="34" charset="0"/>
                <a:ea typeface="Inter" pitchFamily="34" charset="-122"/>
                <a:cs typeface="Inter" pitchFamily="34" charset="-120"/>
              </a:rPr>
              <a:t>frequency</a:t>
            </a:r>
            <a:r>
              <a:rPr lang="en-US" sz="2200" dirty="0">
                <a:solidFill>
                  <a:srgbClr val="2B1417"/>
                </a:solidFill>
                <a:latin typeface="Inter" pitchFamily="34" charset="0"/>
                <a:ea typeface="Inter" pitchFamily="34" charset="-122"/>
                <a:cs typeface="Inter" pitchFamily="34" charset="-120"/>
              </a:rPr>
              <a:t> and weekly </a:t>
            </a:r>
            <a:r>
              <a:rPr lang="en-US" sz="2200" b="1" dirty="0">
                <a:solidFill>
                  <a:srgbClr val="2B1417"/>
                </a:solidFill>
                <a:latin typeface="Inter" pitchFamily="34" charset="0"/>
                <a:ea typeface="Inter" pitchFamily="34" charset="-122"/>
                <a:cs typeface="Inter" pitchFamily="34" charset="-120"/>
              </a:rPr>
              <a:t>volume</a:t>
            </a:r>
            <a:r>
              <a:rPr lang="en-US" sz="2200" dirty="0">
                <a:solidFill>
                  <a:srgbClr val="2B1417"/>
                </a:solidFill>
                <a:latin typeface="Inter" pitchFamily="34" charset="0"/>
                <a:ea typeface="Inter" pitchFamily="34" charset="-122"/>
                <a:cs typeface="Inter" pitchFamily="34" charset="-120"/>
              </a:rPr>
              <a:t> relate to muscle growth and strength gain.</a:t>
            </a:r>
            <a:endParaRPr lang="en-US" sz="2200" dirty="0"/>
          </a:p>
        </p:txBody>
      </p:sp>
      <p:sp>
        <p:nvSpPr>
          <p:cNvPr id="10" name="Shape 8"/>
          <p:cNvSpPr/>
          <p:nvPr/>
        </p:nvSpPr>
        <p:spPr>
          <a:xfrm>
            <a:off x="635000" y="4333180"/>
            <a:ext cx="127000" cy="127000"/>
          </a:xfrm>
          <a:prstGeom prst="roundRect">
            <a:avLst>
              <a:gd name="adj" fmla="val 20000"/>
            </a:avLst>
          </a:prstGeom>
          <a:solidFill>
            <a:srgbClr val="9E3F3F"/>
          </a:solidFill>
          <a:ln/>
        </p:spPr>
      </p:sp>
      <p:sp>
        <p:nvSpPr>
          <p:cNvPr id="11" name="Text 9"/>
          <p:cNvSpPr/>
          <p:nvPr/>
        </p:nvSpPr>
        <p:spPr>
          <a:xfrm>
            <a:off x="914400" y="4333180"/>
            <a:ext cx="6514338"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2B1417"/>
                </a:solidFill>
                <a:latin typeface="Inter" pitchFamily="34" charset="0"/>
                <a:ea typeface="Inter" pitchFamily="34" charset="-122"/>
                <a:cs typeface="Inter" pitchFamily="34" charset="-120"/>
              </a:rPr>
              <a:t>Data: the open dataset behind a published meta-regression (Pelland et al., 2026).</a:t>
            </a:r>
            <a:endParaRPr lang="en-US" sz="2200" dirty="0"/>
          </a:p>
        </p:txBody>
      </p:sp>
      <p:sp>
        <p:nvSpPr>
          <p:cNvPr id="12" name="Shape 10"/>
          <p:cNvSpPr/>
          <p:nvPr/>
        </p:nvSpPr>
        <p:spPr>
          <a:xfrm>
            <a:off x="635000" y="5277941"/>
            <a:ext cx="127000" cy="127000"/>
          </a:xfrm>
          <a:prstGeom prst="roundRect">
            <a:avLst>
              <a:gd name="adj" fmla="val 20000"/>
            </a:avLst>
          </a:prstGeom>
          <a:solidFill>
            <a:srgbClr val="9E3F3F"/>
          </a:solidFill>
          <a:ln/>
        </p:spPr>
      </p:sp>
      <p:sp>
        <p:nvSpPr>
          <p:cNvPr id="13" name="Text 11"/>
          <p:cNvSpPr/>
          <p:nvPr/>
        </p:nvSpPr>
        <p:spPr>
          <a:xfrm>
            <a:off x="914400" y="5277941"/>
            <a:ext cx="6514338" cy="77966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2B1417"/>
                </a:solidFill>
                <a:latin typeface="Inter" pitchFamily="34" charset="0"/>
                <a:ea typeface="Inter" pitchFamily="34" charset="-122"/>
                <a:cs typeface="Inter" pitchFamily="34" charset="-120"/>
              </a:rPr>
              <a:t>Group averages: </a:t>
            </a:r>
            <a:r>
              <a:rPr lang="en-US" sz="2200" b="1" dirty="0">
                <a:solidFill>
                  <a:srgbClr val="2B1417"/>
                </a:solidFill>
                <a:latin typeface="Inter" pitchFamily="34" charset="0"/>
                <a:ea typeface="Inter" pitchFamily="34" charset="-122"/>
                <a:cs typeface="Inter" pitchFamily="34" charset="-120"/>
              </a:rPr>
              <a:t>association only</a:t>
            </a:r>
            <a:r>
              <a:rPr lang="en-US" sz="2200" dirty="0">
                <a:solidFill>
                  <a:srgbClr val="2B1417"/>
                </a:solidFill>
                <a:latin typeface="Inter" pitchFamily="34" charset="0"/>
                <a:ea typeface="Inter" pitchFamily="34" charset="-122"/>
                <a:cs typeface="Inter" pitchFamily="34" charset="-120"/>
              </a:rPr>
              <a:t>, no causal claims.</a:t>
            </a:r>
            <a:endParaRPr lang="en-US" sz="2200" dirty="0"/>
          </a:p>
        </p:txBody>
      </p:sp>
      <p:sp>
        <p:nvSpPr>
          <p:cNvPr id="14" name="Shape 12"/>
          <p:cNvSpPr/>
          <p:nvPr/>
        </p:nvSpPr>
        <p:spPr>
          <a:xfrm>
            <a:off x="7683500" y="1587103"/>
            <a:ext cx="3810000" cy="1210171"/>
          </a:xfrm>
          <a:prstGeom prst="roundRect">
            <a:avLst>
              <a:gd name="adj" fmla="val 7346"/>
            </a:avLst>
          </a:prstGeom>
          <a:solidFill>
            <a:srgbClr val="5A252C"/>
          </a:solidFill>
          <a:ln/>
          <a:effectLst>
            <a:outerShdw sx="100000" sy="100000" kx="0" ky="0" algn="bl" rotWithShape="0" blurRad="101600" dist="25400" dir="5400000">
              <a:srgbClr val="5A252C">
                <a:alpha val="18000"/>
              </a:srgbClr>
            </a:outerShdw>
          </a:effectLst>
        </p:spPr>
      </p:sp>
      <p:sp>
        <p:nvSpPr>
          <p:cNvPr id="15" name="Text 13"/>
          <p:cNvSpPr/>
          <p:nvPr/>
        </p:nvSpPr>
        <p:spPr>
          <a:xfrm>
            <a:off x="7874000" y="1739503"/>
            <a:ext cx="3531870" cy="612080"/>
          </a:xfrm>
          <a:prstGeom prst="rect">
            <a:avLst/>
          </a:prstGeom>
          <a:noFill/>
          <a:ln/>
        </p:spPr>
        <p:txBody>
          <a:bodyPr wrap="square" lIns="0" tIns="0" rIns="0" bIns="0" rtlCol="0" anchor="t">
            <a:normAutofit/>
          </a:bodyPr>
          <a:lstStyle/>
          <a:p>
            <a:pPr algn="l" indent="0" marL="0">
              <a:lnSpc>
                <a:spcPts val="4620"/>
              </a:lnSpc>
              <a:buNone/>
            </a:pPr>
            <a:r>
              <a:rPr lang="en-US" sz="4200" b="1" dirty="0">
                <a:solidFill>
                  <a:srgbClr val="FFFFFF"/>
                </a:solidFill>
                <a:latin typeface="Poppins" pitchFamily="34" charset="0"/>
                <a:ea typeface="Poppins" pitchFamily="34" charset="-122"/>
                <a:cs typeface="Poppins" pitchFamily="34" charset="-120"/>
              </a:rPr>
              <a:t>70</a:t>
            </a:r>
            <a:endParaRPr lang="en-US" sz="4200" dirty="0"/>
          </a:p>
        </p:txBody>
      </p:sp>
      <p:sp>
        <p:nvSpPr>
          <p:cNvPr id="16" name="Text 14"/>
          <p:cNvSpPr/>
          <p:nvPr/>
        </p:nvSpPr>
        <p:spPr>
          <a:xfrm>
            <a:off x="7874000" y="2364284"/>
            <a:ext cx="3531870"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8F1E9"/>
                </a:solidFill>
                <a:latin typeface="Inter" pitchFamily="34" charset="0"/>
                <a:ea typeface="Inter" pitchFamily="34" charset="-122"/>
                <a:cs typeface="Inter" pitchFamily="34" charset="-120"/>
              </a:rPr>
              <a:t>published studies in the file</a:t>
            </a:r>
            <a:endParaRPr lang="en-US" sz="1700" dirty="0"/>
          </a:p>
        </p:txBody>
      </p:sp>
      <p:sp>
        <p:nvSpPr>
          <p:cNvPr id="17" name="Shape 15"/>
          <p:cNvSpPr/>
          <p:nvPr/>
        </p:nvSpPr>
        <p:spPr>
          <a:xfrm>
            <a:off x="7683500" y="2975074"/>
            <a:ext cx="3810000" cy="1490762"/>
          </a:xfrm>
          <a:prstGeom prst="roundRect">
            <a:avLst>
              <a:gd name="adj" fmla="val 5963"/>
            </a:avLst>
          </a:prstGeom>
          <a:solidFill>
            <a:srgbClr val="9E3F3F"/>
          </a:solidFill>
          <a:ln/>
          <a:effectLst>
            <a:outerShdw sx="100000" sy="100000" kx="0" ky="0" algn="bl" rotWithShape="0" blurRad="101600" dist="25400" dir="5400000">
              <a:srgbClr val="5A252C">
                <a:alpha val="18000"/>
              </a:srgbClr>
            </a:outerShdw>
          </a:effectLst>
        </p:spPr>
      </p:sp>
      <p:sp>
        <p:nvSpPr>
          <p:cNvPr id="18" name="Text 16"/>
          <p:cNvSpPr/>
          <p:nvPr/>
        </p:nvSpPr>
        <p:spPr>
          <a:xfrm>
            <a:off x="7874000" y="3127474"/>
            <a:ext cx="3531870" cy="612080"/>
          </a:xfrm>
          <a:prstGeom prst="rect">
            <a:avLst/>
          </a:prstGeom>
          <a:noFill/>
          <a:ln/>
        </p:spPr>
        <p:txBody>
          <a:bodyPr wrap="square" lIns="0" tIns="0" rIns="0" bIns="0" rtlCol="0" anchor="t">
            <a:normAutofit/>
          </a:bodyPr>
          <a:lstStyle/>
          <a:p>
            <a:pPr algn="l" indent="0" marL="0">
              <a:lnSpc>
                <a:spcPts val="4620"/>
              </a:lnSpc>
              <a:buNone/>
            </a:pPr>
            <a:r>
              <a:rPr lang="en-US" sz="4200" b="1" dirty="0">
                <a:solidFill>
                  <a:srgbClr val="FFFFFF"/>
                </a:solidFill>
                <a:latin typeface="Poppins" pitchFamily="34" charset="0"/>
                <a:ea typeface="Poppins" pitchFamily="34" charset="-122"/>
                <a:cs typeface="Poppins" pitchFamily="34" charset="-120"/>
              </a:rPr>
              <a:t>229</a:t>
            </a:r>
            <a:endParaRPr lang="en-US" sz="4200" dirty="0"/>
          </a:p>
        </p:txBody>
      </p:sp>
      <p:sp>
        <p:nvSpPr>
          <p:cNvPr id="19" name="Text 17"/>
          <p:cNvSpPr/>
          <p:nvPr/>
        </p:nvSpPr>
        <p:spPr>
          <a:xfrm>
            <a:off x="7874000" y="3752255"/>
            <a:ext cx="3531870"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8F1E9"/>
                </a:solidFill>
                <a:latin typeface="Inter" pitchFamily="34" charset="0"/>
                <a:ea typeface="Inter" pitchFamily="34" charset="-122"/>
                <a:cs typeface="Inter" pitchFamily="34" charset="-120"/>
              </a:rPr>
              <a:t>group rows analyzed after cleaning</a:t>
            </a:r>
            <a:endParaRPr lang="en-US" sz="1700" dirty="0"/>
          </a:p>
        </p:txBody>
      </p:sp>
      <p:sp>
        <p:nvSpPr>
          <p:cNvPr id="20" name="Shape 18"/>
          <p:cNvSpPr/>
          <p:nvPr/>
        </p:nvSpPr>
        <p:spPr>
          <a:xfrm>
            <a:off x="7683500" y="4643636"/>
            <a:ext cx="3810000" cy="1490762"/>
          </a:xfrm>
          <a:prstGeom prst="roundRect">
            <a:avLst>
              <a:gd name="adj" fmla="val 5963"/>
            </a:avLst>
          </a:prstGeom>
          <a:solidFill>
            <a:srgbClr val="5A252C"/>
          </a:solidFill>
          <a:ln/>
          <a:effectLst>
            <a:outerShdw sx="100000" sy="100000" kx="0" ky="0" algn="bl" rotWithShape="0" blurRad="101600" dist="25400" dir="5400000">
              <a:srgbClr val="5A252C">
                <a:alpha val="18000"/>
              </a:srgbClr>
            </a:outerShdw>
          </a:effectLst>
        </p:spPr>
      </p:sp>
      <p:sp>
        <p:nvSpPr>
          <p:cNvPr id="21" name="Text 19"/>
          <p:cNvSpPr/>
          <p:nvPr/>
        </p:nvSpPr>
        <p:spPr>
          <a:xfrm>
            <a:off x="7874000" y="4796036"/>
            <a:ext cx="3531870" cy="612080"/>
          </a:xfrm>
          <a:prstGeom prst="rect">
            <a:avLst/>
          </a:prstGeom>
          <a:noFill/>
          <a:ln/>
        </p:spPr>
        <p:txBody>
          <a:bodyPr wrap="square" lIns="0" tIns="0" rIns="0" bIns="0" rtlCol="0" anchor="t">
            <a:normAutofit/>
          </a:bodyPr>
          <a:lstStyle/>
          <a:p>
            <a:pPr algn="l" indent="0" marL="0">
              <a:lnSpc>
                <a:spcPts val="4620"/>
              </a:lnSpc>
              <a:buNone/>
            </a:pPr>
            <a:r>
              <a:rPr lang="en-US" sz="4200" b="1" dirty="0">
                <a:solidFill>
                  <a:srgbClr val="FFFFFF"/>
                </a:solidFill>
                <a:latin typeface="Poppins" pitchFamily="34" charset="0"/>
                <a:ea typeface="Poppins" pitchFamily="34" charset="-122"/>
                <a:cs typeface="Poppins" pitchFamily="34" charset="-120"/>
              </a:rPr>
              <a:t>2</a:t>
            </a:r>
            <a:endParaRPr lang="en-US" sz="4200" dirty="0"/>
          </a:p>
        </p:txBody>
      </p:sp>
      <p:sp>
        <p:nvSpPr>
          <p:cNvPr id="22" name="Text 20"/>
          <p:cNvSpPr/>
          <p:nvPr/>
        </p:nvSpPr>
        <p:spPr>
          <a:xfrm>
            <a:off x="7874000" y="5420816"/>
            <a:ext cx="3531870"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8F1E9"/>
                </a:solidFill>
                <a:latin typeface="Inter" pitchFamily="34" charset="0"/>
                <a:ea typeface="Inter" pitchFamily="34" charset="-122"/>
                <a:cs typeface="Inter" pitchFamily="34" charset="-120"/>
              </a:rPr>
              <a:t>outcomes: muscle size and strength</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Problem Statement</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3</a:t>
            </a:r>
            <a:endParaRPr lang="en-US" sz="2000" dirty="0"/>
          </a:p>
        </p:txBody>
      </p:sp>
      <p:sp>
        <p:nvSpPr>
          <p:cNvPr id="6" name="Text 4"/>
          <p:cNvSpPr/>
          <p:nvPr/>
        </p:nvSpPr>
        <p:spPr>
          <a:xfrm>
            <a:off x="635000" y="1181100"/>
            <a:ext cx="2628900" cy="971550"/>
          </a:xfrm>
          <a:prstGeom prst="roundRect">
            <a:avLst>
              <a:gd name="adj" fmla="val 9150"/>
            </a:avLst>
          </a:prstGeom>
          <a:solidFill>
            <a:srgbClr val="9E3F3F"/>
          </a:solidFill>
          <a:ln/>
          <a:effectLst>
            <a:outerShdw sx="100000" sy="100000" kx="0" ky="0" algn="bl" rotWithShape="0" blurRad="101600" dist="25400" dir="5400000">
              <a:srgbClr val="5A252C">
                <a:alpha val="18000"/>
              </a:srgbClr>
            </a:outerShdw>
          </a:effectLst>
        </p:spPr>
        <p:txBody>
          <a:bodyPr wrap="square" lIns="78420" tIns="113662" rIns="78420" bIns="113662" rtlCol="0" anchor="ctr">
            <a:normAutofit/>
          </a:bodyPr>
          <a:lstStyle/>
          <a:p>
            <a:pPr algn="ctr" indent="0" marL="0">
              <a:lnSpc>
                <a:spcPts val="2625"/>
              </a:lnSpc>
              <a:buNone/>
            </a:pPr>
            <a:r>
              <a:rPr lang="en-US" sz="2100" b="1" dirty="0">
                <a:solidFill>
                  <a:srgbClr val="FFFFFF"/>
                </a:solidFill>
                <a:latin typeface="Poppins" pitchFamily="34" charset="0"/>
                <a:ea typeface="Poppins" pitchFamily="34" charset="-122"/>
                <a:cs typeface="Poppins" pitchFamily="34" charset="-120"/>
              </a:rPr>
              <a:t>Training frequency</a:t>
            </a:r>
            <a:endParaRPr lang="en-US" sz="2100" dirty="0"/>
          </a:p>
        </p:txBody>
      </p:sp>
      <p:sp>
        <p:nvSpPr>
          <p:cNvPr id="7" name="Text 5"/>
          <p:cNvSpPr/>
          <p:nvPr/>
        </p:nvSpPr>
        <p:spPr>
          <a:xfrm>
            <a:off x="3263900" y="1181100"/>
            <a:ext cx="2628900" cy="971550"/>
          </a:xfrm>
          <a:prstGeom prst="roundRect">
            <a:avLst>
              <a:gd name="adj" fmla="val 9150"/>
            </a:avLst>
          </a:prstGeom>
          <a:solidFill>
            <a:srgbClr val="9E3F3F"/>
          </a:solidFill>
          <a:ln/>
          <a:effectLst>
            <a:outerShdw sx="100000" sy="100000" kx="0" ky="0" algn="bl" rotWithShape="0" blurRad="101600" dist="25400" dir="5400000">
              <a:srgbClr val="5A252C">
                <a:alpha val="18000"/>
              </a:srgbClr>
            </a:outerShdw>
          </a:effectLst>
        </p:spPr>
        <p:txBody>
          <a:bodyPr wrap="square" lIns="113662" tIns="126362" rIns="113662" bIns="126362" rtlCol="0" anchor="ctr">
            <a:normAutofit/>
          </a:bodyPr>
          <a:lstStyle/>
          <a:p>
            <a:pPr algn="ctr" indent="0" marL="0">
              <a:lnSpc>
                <a:spcPts val="2625"/>
              </a:lnSpc>
              <a:buNone/>
            </a:pPr>
            <a:r>
              <a:rPr lang="en-US" sz="2100" b="1" dirty="0">
                <a:solidFill>
                  <a:srgbClr val="FFFFFF"/>
                </a:solidFill>
                <a:latin typeface="Poppins" pitchFamily="34" charset="0"/>
                <a:ea typeface="Poppins" pitchFamily="34" charset="-122"/>
                <a:cs typeface="Poppins" pitchFamily="34" charset="-120"/>
              </a:rPr>
              <a:t>Weekly volume</a:t>
            </a:r>
            <a:endParaRPr lang="en-US" sz="2100" dirty="0"/>
          </a:p>
        </p:txBody>
      </p:sp>
      <p:sp>
        <p:nvSpPr>
          <p:cNvPr id="8" name="Text 6"/>
          <p:cNvSpPr/>
          <p:nvPr/>
        </p:nvSpPr>
        <p:spPr>
          <a:xfrm>
            <a:off x="5892800" y="1426865"/>
            <a:ext cx="406400" cy="505420"/>
          </a:xfrm>
          <a:prstGeom prst="rect">
            <a:avLst/>
          </a:prstGeom>
          <a:noFill/>
          <a:ln/>
        </p:spPr>
        <p:txBody>
          <a:bodyPr wrap="square" lIns="0" tIns="0" rIns="0" bIns="0" rtlCol="0" anchor="t">
            <a:normAutofit/>
          </a:bodyPr>
          <a:lstStyle/>
          <a:p>
            <a:pPr algn="ctr" indent="0" marL="0">
              <a:lnSpc>
                <a:spcPts val="3780"/>
              </a:lnSpc>
              <a:buNone/>
            </a:pPr>
            <a:r>
              <a:rPr lang="en-US" sz="2700" b="1" dirty="0">
                <a:solidFill>
                  <a:srgbClr val="C97979"/>
                </a:solidFill>
                <a:latin typeface="Inter" pitchFamily="34" charset="0"/>
                <a:ea typeface="Inter" pitchFamily="34" charset="-122"/>
                <a:cs typeface="Inter" pitchFamily="34" charset="-120"/>
              </a:rPr>
              <a:t>→</a:t>
            </a:r>
            <a:endParaRPr lang="en-US" sz="2700" dirty="0"/>
          </a:p>
        </p:txBody>
      </p:sp>
      <p:sp>
        <p:nvSpPr>
          <p:cNvPr id="9" name="Text 7"/>
          <p:cNvSpPr/>
          <p:nvPr/>
        </p:nvSpPr>
        <p:spPr>
          <a:xfrm>
            <a:off x="6299200" y="1181100"/>
            <a:ext cx="2628900" cy="971550"/>
          </a:xfrm>
          <a:prstGeom prst="roundRect">
            <a:avLst>
              <a:gd name="adj" fmla="val 9150"/>
            </a:avLst>
          </a:prstGeom>
          <a:solidFill>
            <a:srgbClr val="5A252C"/>
          </a:solidFill>
          <a:ln/>
          <a:effectLst>
            <a:outerShdw sx="100000" sy="100000" kx="0" ky="0" algn="bl" rotWithShape="0" blurRad="101600" dist="25400" dir="5400000">
              <a:srgbClr val="5A252C">
                <a:alpha val="18000"/>
              </a:srgbClr>
            </a:outerShdw>
          </a:effectLst>
        </p:spPr>
        <p:txBody>
          <a:bodyPr wrap="square" lIns="113662" tIns="126362" rIns="113662" bIns="126362" rtlCol="0" anchor="ctr">
            <a:normAutofit/>
          </a:bodyPr>
          <a:lstStyle/>
          <a:p>
            <a:pPr algn="ctr" indent="0" marL="0">
              <a:lnSpc>
                <a:spcPts val="2625"/>
              </a:lnSpc>
              <a:buNone/>
            </a:pPr>
            <a:r>
              <a:rPr lang="en-US" sz="2100" b="1" dirty="0">
                <a:solidFill>
                  <a:srgbClr val="FFFFFF"/>
                </a:solidFill>
                <a:latin typeface="Poppins" pitchFamily="34" charset="0"/>
                <a:ea typeface="Poppins" pitchFamily="34" charset="-122"/>
                <a:cs typeface="Poppins" pitchFamily="34" charset="-120"/>
              </a:rPr>
              <a:t>Muscle growth</a:t>
            </a:r>
            <a:endParaRPr lang="en-US" sz="2100" dirty="0"/>
          </a:p>
        </p:txBody>
      </p:sp>
      <p:sp>
        <p:nvSpPr>
          <p:cNvPr id="10" name="Text 8"/>
          <p:cNvSpPr/>
          <p:nvPr/>
        </p:nvSpPr>
        <p:spPr>
          <a:xfrm>
            <a:off x="8928100" y="1181100"/>
            <a:ext cx="2628900" cy="971550"/>
          </a:xfrm>
          <a:prstGeom prst="roundRect">
            <a:avLst>
              <a:gd name="adj" fmla="val 9150"/>
            </a:avLst>
          </a:prstGeom>
          <a:solidFill>
            <a:srgbClr val="5A252C"/>
          </a:solidFill>
          <a:ln/>
          <a:effectLst>
            <a:outerShdw sx="100000" sy="100000" kx="0" ky="0" algn="bl" rotWithShape="0" blurRad="101600" dist="25400" dir="5400000">
              <a:srgbClr val="5A252C">
                <a:alpha val="18000"/>
              </a:srgbClr>
            </a:outerShdw>
          </a:effectLst>
        </p:spPr>
        <p:txBody>
          <a:bodyPr wrap="square" lIns="113662" tIns="126362" rIns="113662" bIns="126362" rtlCol="0" anchor="ctr">
            <a:normAutofit/>
          </a:bodyPr>
          <a:lstStyle/>
          <a:p>
            <a:pPr algn="ctr" indent="0" marL="0">
              <a:lnSpc>
                <a:spcPts val="2625"/>
              </a:lnSpc>
              <a:buNone/>
            </a:pPr>
            <a:r>
              <a:rPr lang="en-US" sz="2100" b="1" dirty="0">
                <a:solidFill>
                  <a:srgbClr val="FFFFFF"/>
                </a:solidFill>
                <a:latin typeface="Poppins" pitchFamily="34" charset="0"/>
                <a:ea typeface="Poppins" pitchFamily="34" charset="-122"/>
                <a:cs typeface="Poppins" pitchFamily="34" charset="-120"/>
              </a:rPr>
              <a:t>Strength gain</a:t>
            </a:r>
            <a:endParaRPr lang="en-US" sz="2100" dirty="0"/>
          </a:p>
        </p:txBody>
      </p:sp>
      <p:sp>
        <p:nvSpPr>
          <p:cNvPr id="11" name="Text 9"/>
          <p:cNvSpPr/>
          <p:nvPr/>
        </p:nvSpPr>
        <p:spPr>
          <a:xfrm>
            <a:off x="635000" y="2292350"/>
            <a:ext cx="11249660"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6B4A4D"/>
                </a:solidFill>
                <a:latin typeface="Inter" pitchFamily="34" charset="0"/>
                <a:ea typeface="Inter" pitchFamily="34" charset="-122"/>
                <a:cs typeface="Inter" pitchFamily="34" charset="-120"/>
              </a:rPr>
              <a:t>Adjusted for weeks, age, % male and training status. Two-sided α = .05.</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7700" y="2725341"/>
          <a:ext cx="10909300" cy="2943721"/>
        </p:xfrm>
        <a:graphic>
          <a:graphicData uri="http://schemas.openxmlformats.org/drawingml/2006/table">
            <a:tbl>
              <a:tblPr/>
              <a:tblGrid>
                <a:gridCol w="648077"/>
                <a:gridCol w="5184618"/>
                <a:gridCol w="5076605"/>
              </a:tblGrid>
              <a:tr h="474960">
                <a:tc>
                  <a:txBody>
                    <a:bodyPr/>
                    <a:lstStyle/>
                    <a:p>
                      <a:pPr indent="0" marL="0">
                        <a:lnSpc>
                          <a:spcPts val="2240"/>
                        </a:lnSpc>
                        <a:buNone/>
                      </a:pPr>
                      <a:r>
                        <a:rPr lang="en-US" sz="1600" b="1" dirty="0">
                          <a:solidFill>
                            <a:srgbClr val="FFFFFF"/>
                          </a:solidFill>
                          <a:latin typeface="Inter" pitchFamily="34" charset="0"/>
                          <a:ea typeface="Inter" pitchFamily="34" charset="-122"/>
                          <a:cs typeface="Inter" pitchFamily="34" charset="-120"/>
                        </a:rPr>
                        <a:t>RQ</a:t>
                      </a:r>
                      <a:endParaRPr lang="en-US" sz="1600" dirty="0">
                        <a:latin typeface="Inter" charset="0"/>
                        <a:ea typeface="Inter" charset="0"/>
                        <a:cs typeface="Inter" charset="0"/>
                      </a:endParaRPr>
                    </a:p>
                  </a:txBody>
                  <a:tcPr marL="127000" marR="127000" marT="88900" marB="88900" anchor="t">
                    <a:lnL w="12700" cap="flat" cmpd="sng" algn="ctr">
                      <a:solidFill>
                        <a:srgbClr val="C6C0BA"/>
                      </a:solidFill>
                      <a:prstDash val="solid"/>
                      <a:round/>
                      <a:headEnd type="none" w="med" len="med"/>
                      <a:tailEnd type="none" w="med" len="med"/>
                    </a:lnL>
                    <a:lnR w="12700" cap="flat" cmpd="sng" algn="ctr">
                      <a:solidFill>
                        <a:srgbClr val="B8B2AD"/>
                      </a:solidFill>
                      <a:prstDash val="solid"/>
                      <a:round/>
                      <a:headEnd type="none" w="med" len="med"/>
                      <a:tailEnd type="none" w="med" len="med"/>
                    </a:lnR>
                    <a:lnT w="12700" cap="flat" cmpd="sng" algn="ctr">
                      <a:solidFill>
                        <a:srgbClr val="C6C0BA"/>
                      </a:solidFill>
                      <a:prstDash val="solid"/>
                      <a:round/>
                      <a:headEnd type="none" w="med" len="med"/>
                      <a:tailEnd type="none" w="med" len="med"/>
                    </a:lnT>
                    <a:lnB w="12700" cap="flat" cmpd="sng" algn="ctr">
                      <a:solidFill>
                        <a:srgbClr val="B8B2AD"/>
                      </a:solidFill>
                      <a:prstDash val="solid"/>
                      <a:round/>
                      <a:headEnd type="none" w="med" len="med"/>
                      <a:tailEnd type="none" w="med" len="med"/>
                    </a:lnB>
                    <a:solidFill>
                      <a:srgbClr val="E6DFD8"/>
                    </a:solidFill>
                  </a:tcPr>
                </a:tc>
                <a:tc>
                  <a:txBody>
                    <a:bodyPr/>
                    <a:lstStyle/>
                    <a:p>
                      <a:pPr indent="0" marL="0">
                        <a:lnSpc>
                          <a:spcPts val="2240"/>
                        </a:lnSpc>
                        <a:buNone/>
                      </a:pPr>
                      <a:r>
                        <a:rPr lang="en-US" sz="1600" b="1" dirty="0">
                          <a:solidFill>
                            <a:srgbClr val="FFFFFF"/>
                          </a:solidFill>
                          <a:latin typeface="Inter" pitchFamily="34" charset="0"/>
                          <a:ea typeface="Inter" pitchFamily="34" charset="-122"/>
                          <a:cs typeface="Inter" pitchFamily="34" charset="-120"/>
                        </a:rPr>
                        <a:t>Research question</a:t>
                      </a:r>
                      <a:endParaRPr lang="en-US" sz="1600" dirty="0">
                        <a:latin typeface="Inter" charset="0"/>
                        <a:ea typeface="Inter" charset="0"/>
                        <a:cs typeface="Inter" charset="0"/>
                      </a:endParaRPr>
                    </a:p>
                  </a:txBody>
                  <a:tcPr marL="127000" marR="127000" marT="88900" marB="88900" anchor="t">
                    <a:lnL w="12700" cap="flat" cmpd="sng" algn="ctr">
                      <a:solidFill>
                        <a:srgbClr val="B8B2AD"/>
                      </a:solidFill>
                      <a:prstDash val="solid"/>
                      <a:round/>
                      <a:headEnd type="none" w="med" len="med"/>
                      <a:tailEnd type="none" w="med" len="med"/>
                    </a:lnL>
                    <a:lnR w="12700" cap="flat" cmpd="sng" algn="ctr">
                      <a:solidFill>
                        <a:srgbClr val="B8B2AD"/>
                      </a:solidFill>
                      <a:prstDash val="solid"/>
                      <a:round/>
                      <a:headEnd type="none" w="med" len="med"/>
                      <a:tailEnd type="none" w="med" len="med"/>
                    </a:lnR>
                    <a:lnT w="12700" cap="flat" cmpd="sng" algn="ctr">
                      <a:solidFill>
                        <a:srgbClr val="C6C0BA"/>
                      </a:solidFill>
                      <a:prstDash val="solid"/>
                      <a:round/>
                      <a:headEnd type="none" w="med" len="med"/>
                      <a:tailEnd type="none" w="med" len="med"/>
                    </a:lnT>
                    <a:lnB w="12700" cap="flat" cmpd="sng" algn="ctr">
                      <a:solidFill>
                        <a:srgbClr val="B8B2AD"/>
                      </a:solidFill>
                      <a:prstDash val="solid"/>
                      <a:round/>
                      <a:headEnd type="none" w="med" len="med"/>
                      <a:tailEnd type="none" w="med" len="med"/>
                    </a:lnB>
                    <a:solidFill>
                      <a:srgbClr val="E6DFD8"/>
                    </a:solidFill>
                  </a:tcPr>
                </a:tc>
                <a:tc>
                  <a:txBody>
                    <a:bodyPr/>
                    <a:lstStyle/>
                    <a:p>
                      <a:pPr indent="0" marL="0">
                        <a:lnSpc>
                          <a:spcPts val="2240"/>
                        </a:lnSpc>
                        <a:buNone/>
                      </a:pPr>
                      <a:r>
                        <a:rPr lang="en-US" sz="1600" b="1" dirty="0">
                          <a:solidFill>
                            <a:srgbClr val="FFFFFF"/>
                          </a:solidFill>
                          <a:latin typeface="Inter" pitchFamily="34" charset="0"/>
                          <a:ea typeface="Inter" pitchFamily="34" charset="-122"/>
                          <a:cs typeface="Inter" pitchFamily="34" charset="-120"/>
                        </a:rPr>
                        <a:t>Null hypothesis (H₀)</a:t>
                      </a:r>
                      <a:endParaRPr lang="en-US" sz="1600" dirty="0">
                        <a:latin typeface="Inter" charset="0"/>
                        <a:ea typeface="Inter" charset="0"/>
                        <a:cs typeface="Inter" charset="0"/>
                      </a:endParaRPr>
                    </a:p>
                  </a:txBody>
                  <a:tcPr marL="127000" marR="127000" marT="88900" marB="88900" anchor="t">
                    <a:lnL w="12700" cap="flat" cmpd="sng" algn="ctr">
                      <a:solidFill>
                        <a:srgbClr val="B8B2AD"/>
                      </a:solidFill>
                      <a:prstDash val="solid"/>
                      <a:round/>
                      <a:headEnd type="none" w="med" len="med"/>
                      <a:tailEnd type="none" w="med" len="med"/>
                    </a:lnL>
                    <a:lnR w="12700" cap="flat" cmpd="sng" algn="ctr">
                      <a:solidFill>
                        <a:srgbClr val="B8B2AD"/>
                      </a:solidFill>
                      <a:prstDash val="solid"/>
                      <a:round/>
                      <a:headEnd type="none" w="med" len="med"/>
                      <a:tailEnd type="none" w="med" len="med"/>
                    </a:lnR>
                    <a:lnT w="12700" cap="flat" cmpd="sng" algn="ctr">
                      <a:solidFill>
                        <a:srgbClr val="C6C0BA"/>
                      </a:solidFill>
                      <a:prstDash val="solid"/>
                      <a:round/>
                      <a:headEnd type="none" w="med" len="med"/>
                      <a:tailEnd type="none" w="med" len="med"/>
                    </a:lnT>
                    <a:lnB w="12700" cap="flat" cmpd="sng" algn="ctr">
                      <a:solidFill>
                        <a:srgbClr val="B8B2AD"/>
                      </a:solidFill>
                      <a:prstDash val="solid"/>
                      <a:round/>
                      <a:headEnd type="none" w="med" len="med"/>
                      <a:tailEnd type="none" w="med" len="med"/>
                    </a:lnB>
                    <a:solidFill>
                      <a:srgbClr val="E6DFD8"/>
                    </a:solidFill>
                  </a:tcPr>
                </a:tc>
              </a:tr>
              <a:tr h="759420">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1</a:t>
                      </a:r>
                      <a:endParaRPr lang="en-US" sz="1600" dirty="0">
                        <a:latin typeface="Inter" charset="0"/>
                        <a:ea typeface="Inter" charset="0"/>
                        <a:cs typeface="Inter" charset="0"/>
                      </a:endParaRPr>
                    </a:p>
                  </a:txBody>
                  <a:tcPr marL="127000" marR="127000" marT="88900" marB="88900" anchor="t">
                    <a:lnL w="12700" cap="flat" cmpd="sng" algn="ctr">
                      <a:solidFill>
                        <a:srgbClr val="C6C0B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2A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Is frequency related to muscle growth, after volume?</a:t>
                      </a:r>
                      <a:endParaRPr lang="en-US" sz="16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2A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Frequency has no association with hypertrophy.</a:t>
                      </a:r>
                      <a:endParaRPr lang="en-US" sz="16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2A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2</a:t>
                      </a:r>
                      <a:endParaRPr lang="en-US" sz="1600" dirty="0">
                        <a:latin typeface="Inter" charset="0"/>
                        <a:ea typeface="Inter" charset="0"/>
                        <a:cs typeface="Inter" charset="0"/>
                      </a:endParaRPr>
                    </a:p>
                  </a:txBody>
                  <a:tcPr marL="127000" marR="127000" marT="88900" marB="88900" anchor="t">
                    <a:lnL w="12700" cap="flat" cmpd="sng" algn="ctr">
                      <a:solidFill>
                        <a:srgbClr val="C6C0BA"/>
                      </a:solidFill>
                      <a:prstDash val="solid"/>
                      <a:round/>
                      <a:headEnd type="none" w="med" len="med"/>
                      <a:tailEnd type="none" w="med" len="med"/>
                    </a:lnL>
                    <a:lnR w="12700" cap="flat" cmpd="sng" algn="ctr">
                      <a:solidFill>
                        <a:srgbClr val="C0B6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6AF"/>
                      </a:solidFill>
                      <a:prstDash val="solid"/>
                      <a:round/>
                      <a:headEnd type="none" w="med" len="med"/>
                      <a:tailEnd type="none" w="med" len="med"/>
                    </a:lnB>
                    <a:solidFill>
                      <a:srgbClr val="F1E4DB"/>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Is weekly volume related to muscle growth?</a:t>
                      </a:r>
                      <a:endParaRPr lang="en-US" sz="1600" dirty="0">
                        <a:latin typeface="Inter" charset="0"/>
                        <a:ea typeface="Inter" charset="0"/>
                        <a:cs typeface="Inter" charset="0"/>
                      </a:endParaRPr>
                    </a:p>
                  </a:txBody>
                  <a:tcPr marL="127000" marR="127000" marT="88900" marB="88900" anchor="t">
                    <a:lnL w="12700" cap="flat" cmpd="sng" algn="ctr">
                      <a:solidFill>
                        <a:srgbClr val="C0B6AF"/>
                      </a:solidFill>
                      <a:prstDash val="solid"/>
                      <a:round/>
                      <a:headEnd type="none" w="med" len="med"/>
                      <a:tailEnd type="none" w="med" len="med"/>
                    </a:lnL>
                    <a:lnR w="12700" cap="flat" cmpd="sng" algn="ctr">
                      <a:solidFill>
                        <a:srgbClr val="C0B6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6AF"/>
                      </a:solidFill>
                      <a:prstDash val="solid"/>
                      <a:round/>
                      <a:headEnd type="none" w="med" len="med"/>
                      <a:tailEnd type="none" w="med" len="med"/>
                    </a:lnB>
                    <a:solidFill>
                      <a:srgbClr val="F1E4DB"/>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Volume has no association with hypertrophy.</a:t>
                      </a:r>
                      <a:endParaRPr lang="en-US" sz="1600" dirty="0">
                        <a:latin typeface="Inter" charset="0"/>
                        <a:ea typeface="Inter" charset="0"/>
                        <a:cs typeface="Inter" charset="0"/>
                      </a:endParaRPr>
                    </a:p>
                  </a:txBody>
                  <a:tcPr marL="127000" marR="127000" marT="88900" marB="88900" anchor="t">
                    <a:lnL w="12700" cap="flat" cmpd="sng" algn="ctr">
                      <a:solidFill>
                        <a:srgbClr val="C0B6AF"/>
                      </a:solidFill>
                      <a:prstDash val="solid"/>
                      <a:round/>
                      <a:headEnd type="none" w="med" len="med"/>
                      <a:tailEnd type="none" w="med" len="med"/>
                    </a:lnL>
                    <a:lnR w="12700" cap="flat" cmpd="sng" algn="ctr">
                      <a:solidFill>
                        <a:srgbClr val="C0B6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6AF"/>
                      </a:solidFill>
                      <a:prstDash val="solid"/>
                      <a:round/>
                      <a:headEnd type="none" w="med" len="med"/>
                      <a:tailEnd type="none" w="med" len="med"/>
                    </a:lnB>
                    <a:solidFill>
                      <a:srgbClr val="F1E4DB"/>
                    </a:solidFill>
                  </a:tcPr>
                </a:tc>
              </a:tr>
              <a:tr h="759420">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3</a:t>
                      </a:r>
                      <a:endParaRPr lang="en-US" sz="1600" dirty="0">
                        <a:latin typeface="Inter" charset="0"/>
                        <a:ea typeface="Inter" charset="0"/>
                        <a:cs typeface="Inter" charset="0"/>
                      </a:endParaRPr>
                    </a:p>
                  </a:txBody>
                  <a:tcPr marL="127000" marR="127000" marT="88900" marB="88900" anchor="t">
                    <a:lnL w="12700" cap="flat" cmpd="sng" algn="ctr">
                      <a:solidFill>
                        <a:srgbClr val="C6C0B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6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Are frequency and volume related to strength gain?</a:t>
                      </a:r>
                      <a:endParaRPr lang="en-US" sz="16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6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Neither is associated with strength gain.</a:t>
                      </a:r>
                      <a:endParaRPr lang="en-US" sz="16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6A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74960">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4</a:t>
                      </a:r>
                      <a:endParaRPr lang="en-US" sz="1600" dirty="0">
                        <a:latin typeface="Inter" charset="0"/>
                        <a:ea typeface="Inter" charset="0"/>
                        <a:cs typeface="Inter" charset="0"/>
                      </a:endParaRPr>
                    </a:p>
                  </a:txBody>
                  <a:tcPr marL="127000" marR="127000" marT="88900" marB="88900" anchor="t">
                    <a:lnL w="12700" cap="flat" cmpd="sng" algn="ctr">
                      <a:solidFill>
                        <a:srgbClr val="C6C0BA"/>
                      </a:solidFill>
                      <a:prstDash val="solid"/>
                      <a:round/>
                      <a:headEnd type="none" w="med" len="med"/>
                      <a:tailEnd type="none" w="med" len="med"/>
                    </a:lnL>
                    <a:lnR w="12700" cap="flat" cmpd="sng" algn="ctr">
                      <a:solidFill>
                        <a:srgbClr val="C0B6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6AF"/>
                      </a:solidFill>
                      <a:prstDash val="solid"/>
                      <a:round/>
                      <a:headEnd type="none" w="med" len="med"/>
                      <a:tailEnd type="none" w="med" len="med"/>
                    </a:lnB>
                    <a:solidFill>
                      <a:srgbClr val="F1E4DB"/>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Does the frequency effect depend on volume?</a:t>
                      </a:r>
                      <a:endParaRPr lang="en-US" sz="1600" dirty="0">
                        <a:latin typeface="Inter" charset="0"/>
                        <a:ea typeface="Inter" charset="0"/>
                        <a:cs typeface="Inter" charset="0"/>
                      </a:endParaRPr>
                    </a:p>
                  </a:txBody>
                  <a:tcPr marL="127000" marR="127000" marT="88900" marB="88900" anchor="t">
                    <a:lnL w="12700" cap="flat" cmpd="sng" algn="ctr">
                      <a:solidFill>
                        <a:srgbClr val="C0B6AF"/>
                      </a:solidFill>
                      <a:prstDash val="solid"/>
                      <a:round/>
                      <a:headEnd type="none" w="med" len="med"/>
                      <a:tailEnd type="none" w="med" len="med"/>
                    </a:lnL>
                    <a:lnR w="12700" cap="flat" cmpd="sng" algn="ctr">
                      <a:solidFill>
                        <a:srgbClr val="C0B6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6AF"/>
                      </a:solidFill>
                      <a:prstDash val="solid"/>
                      <a:round/>
                      <a:headEnd type="none" w="med" len="med"/>
                      <a:tailEnd type="none" w="med" len="med"/>
                    </a:lnB>
                    <a:solidFill>
                      <a:srgbClr val="F1E4DB"/>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There is no frequency × volume interaction.</a:t>
                      </a:r>
                      <a:endParaRPr lang="en-US" sz="1600" dirty="0">
                        <a:latin typeface="Inter" charset="0"/>
                        <a:ea typeface="Inter" charset="0"/>
                        <a:cs typeface="Inter" charset="0"/>
                      </a:endParaRPr>
                    </a:p>
                  </a:txBody>
                  <a:tcPr marL="127000" marR="127000" marT="88900" marB="88900" anchor="t">
                    <a:lnL w="12700" cap="flat" cmpd="sng" algn="ctr">
                      <a:solidFill>
                        <a:srgbClr val="C0B6AF"/>
                      </a:solidFill>
                      <a:prstDash val="solid"/>
                      <a:round/>
                      <a:headEnd type="none" w="med" len="med"/>
                      <a:tailEnd type="none" w="med" len="med"/>
                    </a:lnL>
                    <a:lnR w="12700" cap="flat" cmpd="sng" algn="ctr">
                      <a:solidFill>
                        <a:srgbClr val="C0B6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6AF"/>
                      </a:solidFill>
                      <a:prstDash val="solid"/>
                      <a:round/>
                      <a:headEnd type="none" w="med" len="med"/>
                      <a:tailEnd type="none" w="med" len="med"/>
                    </a:lnB>
                    <a:solidFill>
                      <a:srgbClr val="F1E4D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Literature Review</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4</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700" y="1193800"/>
          <a:ext cx="10909300" cy="3075781"/>
        </p:xfrm>
        <a:graphic>
          <a:graphicData uri="http://schemas.openxmlformats.org/drawingml/2006/table">
            <a:tbl>
              <a:tblPr/>
              <a:tblGrid>
                <a:gridCol w="1854581"/>
                <a:gridCol w="2836418"/>
                <a:gridCol w="6218301"/>
              </a:tblGrid>
              <a:tr h="1120080">
                <a:tc>
                  <a:txBody>
                    <a:bodyPr/>
                    <a:lstStyle/>
                    <a:p>
                      <a:pPr indent="0" marL="0">
                        <a:lnSpc>
                          <a:spcPts val="2240"/>
                        </a:lnSpc>
                        <a:buNone/>
                      </a:pPr>
                      <a:r>
                        <a:rPr lang="en-US" sz="1600" dirty="0">
                          <a:solidFill>
                            <a:srgbClr val="FFFFFF"/>
                          </a:solidFill>
                          <a:latin typeface="Inter" pitchFamily="34" charset="0"/>
                          <a:ea typeface="Inter" pitchFamily="34" charset="-122"/>
                          <a:cs typeface="Inter" pitchFamily="34" charset="-120"/>
                        </a:rPr>
                        <a:t>Training frequency</a:t>
                      </a:r>
                      <a:endParaRPr lang="en-US" sz="1600" dirty="0">
                        <a:latin typeface="Inter" charset="0"/>
                        <a:ea typeface="Inter" charset="0"/>
                        <a:cs typeface="Inter" charset="0"/>
                      </a:endParaRPr>
                    </a:p>
                  </a:txBody>
                  <a:tcPr marL="139700" marR="139700" marT="127000" marB="127000" anchor="t">
                    <a:lnL w="12700" cap="flat" cmpd="sng" algn="ctr">
                      <a:solidFill>
                        <a:srgbClr val="C6C0B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0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Schoenfeld et al. (2016)</a:t>
                      </a:r>
                      <a:endParaRPr lang="en-US" sz="1600" dirty="0">
                        <a:latin typeface="Inter" charset="0"/>
                        <a:ea typeface="Inter" charset="0"/>
                        <a:cs typeface="Inter" charset="0"/>
                      </a:endParaRPr>
                    </a:p>
                  </a:txBody>
                  <a:tcPr marL="139700" marR="1397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0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With weekly volume equal, training a muscle twice a week beat once a week. Twice vs. three times could not be separated.</a:t>
                      </a:r>
                      <a:endParaRPr lang="en-US" sz="1600" dirty="0">
                        <a:latin typeface="Inter" charset="0"/>
                        <a:ea typeface="Inter" charset="0"/>
                        <a:cs typeface="Inter" charset="0"/>
                      </a:endParaRPr>
                    </a:p>
                  </a:txBody>
                  <a:tcPr marL="139700" marR="1397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0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1120080">
                <a:tc>
                  <a:txBody>
                    <a:bodyPr/>
                    <a:lstStyle/>
                    <a:p>
                      <a:pPr indent="0" marL="0">
                        <a:lnSpc>
                          <a:spcPts val="2240"/>
                        </a:lnSpc>
                        <a:buNone/>
                      </a:pPr>
                      <a:r>
                        <a:rPr lang="en-US" sz="1600" dirty="0">
                          <a:solidFill>
                            <a:srgbClr val="FFFFFF"/>
                          </a:solidFill>
                          <a:latin typeface="Inter" pitchFamily="34" charset="0"/>
                          <a:ea typeface="Inter" pitchFamily="34" charset="-122"/>
                          <a:cs typeface="Inter" pitchFamily="34" charset="-120"/>
                        </a:rPr>
                        <a:t>Frequency and volume</a:t>
                      </a:r>
                      <a:endParaRPr lang="en-US" sz="1600" dirty="0">
                        <a:latin typeface="Inter" charset="0"/>
                        <a:ea typeface="Inter" charset="0"/>
                        <a:cs typeface="Inter" charset="0"/>
                      </a:endParaRPr>
                    </a:p>
                  </a:txBody>
                  <a:tcPr marL="139700" marR="139700" marT="127000" marB="127000" anchor="t">
                    <a:lnL w="12700" cap="flat" cmpd="sng" algn="ctr">
                      <a:solidFill>
                        <a:srgbClr val="C6C0B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Pelland et al. (2026)</a:t>
                      </a:r>
                      <a:endParaRPr lang="en-US" sz="1600" dirty="0">
                        <a:latin typeface="Inter" charset="0"/>
                        <a:ea typeface="Inter" charset="0"/>
                        <a:cs typeface="Inter" charset="0"/>
                      </a:endParaRPr>
                    </a:p>
                  </a:txBody>
                  <a:tcPr marL="139700" marR="1397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67 studies, 2,058 people. Gains rose with volume. Once volume was counted, frequency mattered little for muscle; strength kept rising with frequency.</a:t>
                      </a:r>
                      <a:endParaRPr lang="en-US" sz="1600" dirty="0">
                        <a:latin typeface="Inter" charset="0"/>
                        <a:ea typeface="Inter" charset="0"/>
                        <a:cs typeface="Inter" charset="0"/>
                      </a:endParaRPr>
                    </a:p>
                  </a:txBody>
                  <a:tcPr marL="139700" marR="1397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835620">
                <a:tc>
                  <a:txBody>
                    <a:bodyPr/>
                    <a:lstStyle/>
                    <a:p>
                      <a:pPr indent="0" marL="0">
                        <a:lnSpc>
                          <a:spcPts val="2240"/>
                        </a:lnSpc>
                        <a:buNone/>
                      </a:pPr>
                      <a:r>
                        <a:rPr lang="en-US" sz="1600" dirty="0">
                          <a:solidFill>
                            <a:srgbClr val="FFFFFF"/>
                          </a:solidFill>
                          <a:latin typeface="Inter" pitchFamily="34" charset="0"/>
                          <a:ea typeface="Inter" pitchFamily="34" charset="-122"/>
                          <a:cs typeface="Inter" pitchFamily="34" charset="-120"/>
                        </a:rPr>
                        <a:t>Protein (not in our file)</a:t>
                      </a:r>
                      <a:endParaRPr lang="en-US" sz="1600" dirty="0">
                        <a:latin typeface="Inter" charset="0"/>
                        <a:ea typeface="Inter" charset="0"/>
                        <a:cs typeface="Inter" charset="0"/>
                      </a:endParaRPr>
                    </a:p>
                  </a:txBody>
                  <a:tcPr marL="139700" marR="139700" marT="127000" marB="127000" anchor="t">
                    <a:lnL w="12700" cap="flat" cmpd="sng" algn="ctr">
                      <a:solidFill>
                        <a:srgbClr val="C6C0B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9E3F3F"/>
                          </a:solidFill>
                          <a:latin typeface="Inter" pitchFamily="34" charset="0"/>
                          <a:ea typeface="Inter" pitchFamily="34" charset="-122"/>
                          <a:cs typeface="Inter" pitchFamily="34" charset="-120"/>
                        </a:rPr>
                        <a:t>Morton et al. (2018); Tagawa et al. (2021)</a:t>
                      </a:r>
                      <a:endParaRPr lang="en-US" sz="1600" dirty="0">
                        <a:latin typeface="Inter" charset="0"/>
                        <a:ea typeface="Inter" charset="0"/>
                        <a:cs typeface="Inter" charset="0"/>
                      </a:endParaRPr>
                    </a:p>
                  </a:txBody>
                  <a:tcPr marL="139700" marR="1397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2B1417"/>
                          </a:solidFill>
                          <a:latin typeface="Inter" pitchFamily="34" charset="0"/>
                          <a:ea typeface="Inter" pitchFamily="34" charset="-122"/>
                          <a:cs typeface="Inter" pitchFamily="34" charset="-120"/>
                        </a:rPr>
                        <a:t>Benefit levels off at about 1.3 to 1.6 g/kg/day. Our file has no numeric protein variable.</a:t>
                      </a:r>
                      <a:endParaRPr lang="en-US" sz="1600" dirty="0">
                        <a:latin typeface="Inter" charset="0"/>
                        <a:ea typeface="Inter" charset="0"/>
                        <a:cs typeface="Inter" charset="0"/>
                      </a:endParaRPr>
                    </a:p>
                  </a:txBody>
                  <a:tcPr marL="139700" marR="1397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7" name="Text 4"/>
          <p:cNvSpPr/>
          <p:nvPr/>
        </p:nvSpPr>
        <p:spPr>
          <a:xfrm>
            <a:off x="635000" y="4460081"/>
            <a:ext cx="10922000" cy="1024731"/>
          </a:xfrm>
          <a:prstGeom prst="roundRect">
            <a:avLst>
              <a:gd name="adj" fmla="val 6197"/>
            </a:avLst>
          </a:prstGeom>
          <a:solidFill>
            <a:srgbClr val="5A252C"/>
          </a:solidFill>
          <a:ln/>
        </p:spPr>
        <p:txBody>
          <a:bodyPr wrap="square" lIns="286201" tIns="133801" rIns="0" bIns="108401" rtlCol="0" anchor="t">
            <a:normAutofit/>
          </a:bodyPr>
          <a:lstStyle/>
          <a:p>
            <a:pPr algn="l" indent="0" marL="0">
              <a:lnSpc>
                <a:spcPts val="2835"/>
              </a:lnSpc>
              <a:buNone/>
            </a:pPr>
            <a:r>
              <a:rPr lang="en-US" sz="2100" b="1" dirty="0">
                <a:solidFill>
                  <a:srgbClr val="FFFFFF"/>
                </a:solidFill>
                <a:latin typeface="Inter" pitchFamily="34" charset="0"/>
                <a:ea typeface="Inter" pitchFamily="34" charset="-122"/>
                <a:cs typeface="Inter" pitchFamily="34" charset="-120"/>
              </a:rPr>
              <a:t>What we expect:</a:t>
            </a:r>
            <a:r>
              <a:rPr lang="en-US" sz="2100" dirty="0">
                <a:solidFill>
                  <a:srgbClr val="FFFFFF"/>
                </a:solidFill>
                <a:latin typeface="Inter" pitchFamily="34" charset="0"/>
                <a:ea typeface="Inter" pitchFamily="34" charset="-122"/>
                <a:cs typeface="Inter" pitchFamily="34" charset="-120"/>
              </a:rPr>
              <a:t> volume matters for muscle size, and frequency matters for strength. We keep both in one model.</a:t>
            </a:r>
            <a:endParaRPr lang="en-US" sz="2100" dirty="0"/>
          </a:p>
        </p:txBody>
      </p:sp>
      <p:sp>
        <p:nvSpPr>
          <p:cNvPr id="8" name="Shape 5"/>
          <p:cNvSpPr/>
          <p:nvPr/>
        </p:nvSpPr>
        <p:spPr>
          <a:xfrm>
            <a:off x="635000" y="4460081"/>
            <a:ext cx="10922000" cy="1024731"/>
          </a:xfrm>
          <a:custGeom>
            <a:avLst/>
            <a:gdLst/>
            <a:ahLst/>
            <a:cxnLst/>
            <a:rect l="l" t="t" r="r" b="b"/>
            <a:pathLst>
              <a:path w="10922000" h="1024731">
                <a:moveTo>
                  <a:pt x="76200" y="1024731"/>
                </a:moveTo>
                <a:lnTo>
                  <a:pt x="63500" y="1024731"/>
                </a:lnTo>
                <a:arcTo hR="63500" wR="63500" stAng="5400000" swAng="5400000"/>
                <a:lnTo>
                  <a:pt x="0" y="63500"/>
                </a:lnTo>
                <a:arcTo hR="63500" wR="63500" stAng="10800000" swAng="5400000"/>
                <a:lnTo>
                  <a:pt x="76200" y="0"/>
                </a:lnTo>
                <a:lnTo>
                  <a:pt x="76200" y="1024731"/>
                </a:lnTo>
                <a:close/>
              </a:path>
            </a:pathLst>
          </a:custGeom>
          <a:solidFill>
            <a:srgbClr val="C97979"/>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Dataset Selection</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5</a:t>
            </a:r>
            <a:endParaRPr lang="en-US" sz="2000" dirty="0"/>
          </a:p>
        </p:txBody>
      </p:sp>
      <p:sp>
        <p:nvSpPr>
          <p:cNvPr id="6" name="Shape 4"/>
          <p:cNvSpPr/>
          <p:nvPr/>
        </p:nvSpPr>
        <p:spPr>
          <a:xfrm>
            <a:off x="635000" y="1181100"/>
            <a:ext cx="2062460" cy="1332111"/>
          </a:xfrm>
          <a:prstGeom prst="roundRect">
            <a:avLst>
              <a:gd name="adj" fmla="val 6674"/>
            </a:avLst>
          </a:prstGeom>
          <a:solidFill>
            <a:srgbClr val="5A252C"/>
          </a:solidFill>
          <a:ln/>
          <a:effectLst>
            <a:outerShdw sx="100000" sy="100000" kx="0" ky="0" algn="bl" rotWithShape="0" blurRad="101600" dist="25400" dir="5400000">
              <a:srgbClr val="5A252C">
                <a:alpha val="18000"/>
              </a:srgbClr>
            </a:outerShdw>
          </a:effectLst>
        </p:spPr>
      </p:sp>
      <p:sp>
        <p:nvSpPr>
          <p:cNvPr id="7" name="Text 5"/>
          <p:cNvSpPr/>
          <p:nvPr/>
        </p:nvSpPr>
        <p:spPr>
          <a:xfrm>
            <a:off x="825500" y="1333500"/>
            <a:ext cx="1732260"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710</a:t>
            </a:r>
            <a:endParaRPr lang="en-US" sz="3300" dirty="0"/>
          </a:p>
        </p:txBody>
      </p:sp>
      <p:sp>
        <p:nvSpPr>
          <p:cNvPr id="8" name="Text 6"/>
          <p:cNvSpPr/>
          <p:nvPr/>
        </p:nvSpPr>
        <p:spPr>
          <a:xfrm>
            <a:off x="825500" y="1832570"/>
            <a:ext cx="1732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rows in the raw file</a:t>
            </a:r>
            <a:endParaRPr lang="en-US" sz="1600" dirty="0"/>
          </a:p>
        </p:txBody>
      </p:sp>
      <p:sp>
        <p:nvSpPr>
          <p:cNvPr id="9" name="Shape 7"/>
          <p:cNvSpPr/>
          <p:nvPr/>
        </p:nvSpPr>
        <p:spPr>
          <a:xfrm>
            <a:off x="2849860" y="1181100"/>
            <a:ext cx="2062559" cy="1332111"/>
          </a:xfrm>
          <a:prstGeom prst="roundRect">
            <a:avLst>
              <a:gd name="adj" fmla="val 6674"/>
            </a:avLst>
          </a:prstGeom>
          <a:solidFill>
            <a:srgbClr val="9E3F3F"/>
          </a:solidFill>
          <a:ln/>
          <a:effectLst>
            <a:outerShdw sx="100000" sy="100000" kx="0" ky="0" algn="bl" rotWithShape="0" blurRad="101600" dist="25400" dir="5400000">
              <a:srgbClr val="5A252C">
                <a:alpha val="18000"/>
              </a:srgbClr>
            </a:outerShdw>
          </a:effectLst>
        </p:spPr>
      </p:sp>
      <p:sp>
        <p:nvSpPr>
          <p:cNvPr id="10" name="Text 8"/>
          <p:cNvSpPr/>
          <p:nvPr/>
        </p:nvSpPr>
        <p:spPr>
          <a:xfrm>
            <a:off x="3040360" y="1333500"/>
            <a:ext cx="1732359"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70</a:t>
            </a:r>
            <a:endParaRPr lang="en-US" sz="3300" dirty="0"/>
          </a:p>
        </p:txBody>
      </p:sp>
      <p:sp>
        <p:nvSpPr>
          <p:cNvPr id="11" name="Text 9"/>
          <p:cNvSpPr/>
          <p:nvPr/>
        </p:nvSpPr>
        <p:spPr>
          <a:xfrm>
            <a:off x="3040360" y="1832570"/>
            <a:ext cx="1732359"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studies</a:t>
            </a:r>
            <a:endParaRPr lang="en-US" sz="1600" dirty="0"/>
          </a:p>
        </p:txBody>
      </p:sp>
      <p:sp>
        <p:nvSpPr>
          <p:cNvPr id="12" name="Shape 10"/>
          <p:cNvSpPr/>
          <p:nvPr/>
        </p:nvSpPr>
        <p:spPr>
          <a:xfrm>
            <a:off x="5064820" y="1181100"/>
            <a:ext cx="2062460" cy="1332111"/>
          </a:xfrm>
          <a:prstGeom prst="roundRect">
            <a:avLst>
              <a:gd name="adj" fmla="val 6674"/>
            </a:avLst>
          </a:prstGeom>
          <a:solidFill>
            <a:srgbClr val="5A252C"/>
          </a:solidFill>
          <a:ln/>
          <a:effectLst>
            <a:outerShdw sx="100000" sy="100000" kx="0" ky="0" algn="bl" rotWithShape="0" blurRad="101600" dist="25400" dir="5400000">
              <a:srgbClr val="5A252C">
                <a:alpha val="18000"/>
              </a:srgbClr>
            </a:outerShdw>
          </a:effectLst>
        </p:spPr>
      </p:sp>
      <p:sp>
        <p:nvSpPr>
          <p:cNvPr id="13" name="Text 11"/>
          <p:cNvSpPr/>
          <p:nvPr/>
        </p:nvSpPr>
        <p:spPr>
          <a:xfrm>
            <a:off x="5255320" y="1333500"/>
            <a:ext cx="1732260"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168</a:t>
            </a:r>
            <a:endParaRPr lang="en-US" sz="3300" dirty="0"/>
          </a:p>
        </p:txBody>
      </p:sp>
      <p:sp>
        <p:nvSpPr>
          <p:cNvPr id="14" name="Text 12"/>
          <p:cNvSpPr/>
          <p:nvPr/>
        </p:nvSpPr>
        <p:spPr>
          <a:xfrm>
            <a:off x="5255320" y="1832570"/>
            <a:ext cx="1732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training groups</a:t>
            </a:r>
            <a:endParaRPr lang="en-US" sz="1600" dirty="0"/>
          </a:p>
        </p:txBody>
      </p:sp>
      <p:sp>
        <p:nvSpPr>
          <p:cNvPr id="15" name="Shape 13"/>
          <p:cNvSpPr/>
          <p:nvPr/>
        </p:nvSpPr>
        <p:spPr>
          <a:xfrm>
            <a:off x="7279680" y="1181100"/>
            <a:ext cx="2062460" cy="1332111"/>
          </a:xfrm>
          <a:prstGeom prst="roundRect">
            <a:avLst>
              <a:gd name="adj" fmla="val 6674"/>
            </a:avLst>
          </a:prstGeom>
          <a:solidFill>
            <a:srgbClr val="9E3F3F"/>
          </a:solidFill>
          <a:ln/>
          <a:effectLst>
            <a:outerShdw sx="100000" sy="100000" kx="0" ky="0" algn="bl" rotWithShape="0" blurRad="101600" dist="25400" dir="5400000">
              <a:srgbClr val="5A252C">
                <a:alpha val="18000"/>
              </a:srgbClr>
            </a:outerShdw>
          </a:effectLst>
        </p:spPr>
      </p:sp>
      <p:sp>
        <p:nvSpPr>
          <p:cNvPr id="16" name="Text 14"/>
          <p:cNvSpPr/>
          <p:nvPr/>
        </p:nvSpPr>
        <p:spPr>
          <a:xfrm>
            <a:off x="7470180" y="1333500"/>
            <a:ext cx="1732260"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229</a:t>
            </a:r>
            <a:endParaRPr lang="en-US" sz="3300" dirty="0"/>
          </a:p>
        </p:txBody>
      </p:sp>
      <p:sp>
        <p:nvSpPr>
          <p:cNvPr id="17" name="Text 15"/>
          <p:cNvSpPr/>
          <p:nvPr/>
        </p:nvSpPr>
        <p:spPr>
          <a:xfrm>
            <a:off x="7470180" y="1832570"/>
            <a:ext cx="1732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rows analyzed</a:t>
            </a:r>
            <a:endParaRPr lang="en-US" sz="1600" dirty="0"/>
          </a:p>
        </p:txBody>
      </p:sp>
      <p:sp>
        <p:nvSpPr>
          <p:cNvPr id="18" name="Shape 16"/>
          <p:cNvSpPr/>
          <p:nvPr/>
        </p:nvSpPr>
        <p:spPr>
          <a:xfrm>
            <a:off x="9494540" y="1181100"/>
            <a:ext cx="2062460" cy="1332111"/>
          </a:xfrm>
          <a:prstGeom prst="roundRect">
            <a:avLst>
              <a:gd name="adj" fmla="val 6674"/>
            </a:avLst>
          </a:prstGeom>
          <a:solidFill>
            <a:srgbClr val="5A252C"/>
          </a:solidFill>
          <a:ln/>
          <a:effectLst>
            <a:outerShdw sx="100000" sy="100000" kx="0" ky="0" algn="bl" rotWithShape="0" blurRad="101600" dist="25400" dir="5400000">
              <a:srgbClr val="5A252C">
                <a:alpha val="18000"/>
              </a:srgbClr>
            </a:outerShdw>
          </a:effectLst>
        </p:spPr>
      </p:sp>
      <p:sp>
        <p:nvSpPr>
          <p:cNvPr id="19" name="Text 17"/>
          <p:cNvSpPr/>
          <p:nvPr/>
        </p:nvSpPr>
        <p:spPr>
          <a:xfrm>
            <a:off x="9685040" y="1333500"/>
            <a:ext cx="1732260"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2</a:t>
            </a:r>
            <a:endParaRPr lang="en-US" sz="3300" dirty="0"/>
          </a:p>
        </p:txBody>
      </p:sp>
      <p:sp>
        <p:nvSpPr>
          <p:cNvPr id="20" name="Text 18"/>
          <p:cNvSpPr/>
          <p:nvPr/>
        </p:nvSpPr>
        <p:spPr>
          <a:xfrm>
            <a:off x="9685040" y="1832570"/>
            <a:ext cx="1732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outcomes</a:t>
            </a:r>
            <a:endParaRPr lang="en-US" sz="1600" dirty="0"/>
          </a:p>
        </p:txBody>
      </p:sp>
      <p:sp>
        <p:nvSpPr>
          <p:cNvPr id="21" name="Shape 19"/>
          <p:cNvSpPr/>
          <p:nvPr/>
        </p:nvSpPr>
        <p:spPr>
          <a:xfrm>
            <a:off x="635000" y="2678311"/>
            <a:ext cx="127000" cy="127000"/>
          </a:xfrm>
          <a:prstGeom prst="roundRect">
            <a:avLst>
              <a:gd name="adj" fmla="val 20000"/>
            </a:avLst>
          </a:prstGeom>
          <a:solidFill>
            <a:srgbClr val="9E3F3F"/>
          </a:solidFill>
          <a:ln/>
        </p:spPr>
      </p:sp>
      <p:sp>
        <p:nvSpPr>
          <p:cNvPr id="22" name="Text 20"/>
          <p:cNvSpPr/>
          <p:nvPr/>
        </p:nvSpPr>
        <p:spPr>
          <a:xfrm>
            <a:off x="914400" y="2678311"/>
            <a:ext cx="7011416" cy="659606"/>
          </a:xfrm>
          <a:prstGeom prst="rect">
            <a:avLst/>
          </a:prstGeom>
          <a:noFill/>
          <a:ln/>
        </p:spPr>
        <p:txBody>
          <a:bodyPr wrap="square" lIns="0" tIns="0" rIns="0" bIns="0" rtlCol="0" anchor="t">
            <a:normAutofit/>
          </a:bodyPr>
          <a:lstStyle/>
          <a:p>
            <a:pPr algn="l" indent="0" marL="0">
              <a:lnSpc>
                <a:spcPts val="2498"/>
              </a:lnSpc>
              <a:buNone/>
            </a:pPr>
            <a:r>
              <a:rPr lang="en-US" sz="1850" dirty="0">
                <a:solidFill>
                  <a:srgbClr val="2B1417"/>
                </a:solidFill>
                <a:latin typeface="Inter" pitchFamily="34" charset="0"/>
                <a:ea typeface="Inter" pitchFamily="34" charset="-122"/>
                <a:cs typeface="Inter" pitchFamily="34" charset="-120"/>
              </a:rPr>
              <a:t>Open data of Pelland et al. (2026), on the Open Science Framework (osf.io/6z3xu), saved unedited.</a:t>
            </a:r>
            <a:endParaRPr lang="en-US" sz="1850" dirty="0"/>
          </a:p>
        </p:txBody>
      </p:sp>
      <p:sp>
        <p:nvSpPr>
          <p:cNvPr id="23" name="Shape 21"/>
          <p:cNvSpPr/>
          <p:nvPr/>
        </p:nvSpPr>
        <p:spPr>
          <a:xfrm>
            <a:off x="635000" y="3414117"/>
            <a:ext cx="127000" cy="127000"/>
          </a:xfrm>
          <a:prstGeom prst="roundRect">
            <a:avLst>
              <a:gd name="adj" fmla="val 20000"/>
            </a:avLst>
          </a:prstGeom>
          <a:solidFill>
            <a:srgbClr val="9E3F3F"/>
          </a:solidFill>
          <a:ln/>
        </p:spPr>
      </p:sp>
      <p:sp>
        <p:nvSpPr>
          <p:cNvPr id="24" name="Text 22"/>
          <p:cNvSpPr/>
          <p:nvPr/>
        </p:nvSpPr>
        <p:spPr>
          <a:xfrm>
            <a:off x="914400" y="3414117"/>
            <a:ext cx="7011416" cy="659606"/>
          </a:xfrm>
          <a:prstGeom prst="rect">
            <a:avLst/>
          </a:prstGeom>
          <a:noFill/>
          <a:ln/>
        </p:spPr>
        <p:txBody>
          <a:bodyPr wrap="square" lIns="0" tIns="0" rIns="0" bIns="0" rtlCol="0" anchor="t">
            <a:normAutofit/>
          </a:bodyPr>
          <a:lstStyle/>
          <a:p>
            <a:pPr algn="l" indent="0" marL="0">
              <a:lnSpc>
                <a:spcPts val="2498"/>
              </a:lnSpc>
              <a:buNone/>
            </a:pPr>
            <a:r>
              <a:rPr lang="en-US" sz="1850" dirty="0">
                <a:solidFill>
                  <a:srgbClr val="2B1417"/>
                </a:solidFill>
                <a:latin typeface="Inter" pitchFamily="34" charset="0"/>
                <a:ea typeface="Inter" pitchFamily="34" charset="-122"/>
                <a:cs typeface="Inter" pitchFamily="34" charset="-120"/>
              </a:rPr>
              <a:t>One row = one outcome in one training group: a </a:t>
            </a:r>
            <a:r>
              <a:rPr lang="en-US" sz="1850" b="1" dirty="0">
                <a:solidFill>
                  <a:srgbClr val="2B1417"/>
                </a:solidFill>
                <a:latin typeface="Inter" pitchFamily="34" charset="0"/>
                <a:ea typeface="Inter" pitchFamily="34" charset="-122"/>
                <a:cs typeface="Inter" pitchFamily="34" charset="-120"/>
              </a:rPr>
              <a:t>group average</a:t>
            </a:r>
            <a:r>
              <a:rPr lang="en-US" sz="1850" dirty="0">
                <a:solidFill>
                  <a:srgbClr val="2B1417"/>
                </a:solidFill>
                <a:latin typeface="Inter" pitchFamily="34" charset="0"/>
                <a:ea typeface="Inter" pitchFamily="34" charset="-122"/>
                <a:cs typeface="Inter" pitchFamily="34" charset="-120"/>
              </a:rPr>
              <a:t>, not a person.</a:t>
            </a:r>
            <a:endParaRPr lang="en-US" sz="1850" dirty="0"/>
          </a:p>
        </p:txBody>
      </p:sp>
      <p:sp>
        <p:nvSpPr>
          <p:cNvPr id="25" name="Shape 23"/>
          <p:cNvSpPr/>
          <p:nvPr/>
        </p:nvSpPr>
        <p:spPr>
          <a:xfrm>
            <a:off x="635000" y="4149923"/>
            <a:ext cx="127000" cy="127000"/>
          </a:xfrm>
          <a:prstGeom prst="roundRect">
            <a:avLst>
              <a:gd name="adj" fmla="val 20000"/>
            </a:avLst>
          </a:prstGeom>
          <a:solidFill>
            <a:srgbClr val="9E3F3F"/>
          </a:solidFill>
          <a:ln/>
        </p:spPr>
      </p:sp>
      <p:sp>
        <p:nvSpPr>
          <p:cNvPr id="26" name="Text 24"/>
          <p:cNvSpPr/>
          <p:nvPr/>
        </p:nvSpPr>
        <p:spPr>
          <a:xfrm>
            <a:off x="914400" y="4149923"/>
            <a:ext cx="7011416" cy="659606"/>
          </a:xfrm>
          <a:prstGeom prst="rect">
            <a:avLst/>
          </a:prstGeom>
          <a:noFill/>
          <a:ln/>
        </p:spPr>
        <p:txBody>
          <a:bodyPr wrap="square" lIns="0" tIns="0" rIns="0" bIns="0" rtlCol="0" anchor="t">
            <a:normAutofit/>
          </a:bodyPr>
          <a:lstStyle/>
          <a:p>
            <a:pPr algn="l" indent="0" marL="0">
              <a:lnSpc>
                <a:spcPts val="2498"/>
              </a:lnSpc>
              <a:buNone/>
            </a:pPr>
            <a:r>
              <a:rPr lang="en-US" sz="1850" dirty="0">
                <a:solidFill>
                  <a:srgbClr val="2B1417"/>
                </a:solidFill>
                <a:latin typeface="Inter" pitchFamily="34" charset="0"/>
                <a:ea typeface="Inter" pitchFamily="34" charset="-122"/>
                <a:cs typeface="Inter" pitchFamily="34" charset="-120"/>
              </a:rPr>
              <a:t>Frequency = sessions per muscle per week. Volume = hard sets per muscle per week.</a:t>
            </a:r>
            <a:endParaRPr lang="en-US" sz="1850" dirty="0"/>
          </a:p>
        </p:txBody>
      </p:sp>
      <p:sp>
        <p:nvSpPr>
          <p:cNvPr id="27" name="Shape 25"/>
          <p:cNvSpPr/>
          <p:nvPr/>
        </p:nvSpPr>
        <p:spPr>
          <a:xfrm>
            <a:off x="8001000" y="2678311"/>
            <a:ext cx="3556000" cy="2623641"/>
          </a:xfrm>
          <a:prstGeom prst="roundRect">
            <a:avLst>
              <a:gd name="adj" fmla="val 3388"/>
            </a:avLst>
          </a:prstGeom>
          <a:solidFill>
            <a:srgbClr val="FFFFFF"/>
          </a:solidFill>
          <a:ln/>
          <a:effectLst>
            <a:outerShdw sx="100000" sy="100000" kx="0" ky="0" algn="bl" rotWithShape="0" blurRad="101600" dist="25400" dir="5400000">
              <a:srgbClr val="5A252C">
                <a:alpha val="18000"/>
              </a:srgbClr>
            </a:outerShdw>
          </a:effectLst>
        </p:spPr>
      </p:sp>
      <p:sp>
        <p:nvSpPr>
          <p:cNvPr id="28" name="Shape 26"/>
          <p:cNvSpPr/>
          <p:nvPr/>
        </p:nvSpPr>
        <p:spPr>
          <a:xfrm>
            <a:off x="8001000" y="2678311"/>
            <a:ext cx="3556000" cy="2623641"/>
          </a:xfrm>
          <a:custGeom>
            <a:avLst/>
            <a:gdLst/>
            <a:ahLst/>
            <a:cxnLst/>
            <a:rect l="l" t="t" r="r" b="b"/>
            <a:pathLst>
              <a:path w="3556000" h="2623641">
                <a:moveTo>
                  <a:pt x="0" y="88900"/>
                </a:moveTo>
                <a:lnTo>
                  <a:pt x="0" y="88900"/>
                </a:lnTo>
                <a:arcTo hR="88900" wR="88900" stAng="10800000" swAng="5400000"/>
                <a:lnTo>
                  <a:pt x="3467100" y="0"/>
                </a:lnTo>
                <a:arcTo hR="88900" wR="88900" stAng="16200000" swAng="5400000"/>
                <a:lnTo>
                  <a:pt x="3556000" y="88900"/>
                </a:lnTo>
                <a:arcTo hR="25400" wR="88900" stAng="0" swAng="-5400000"/>
                <a:lnTo>
                  <a:pt x="88900" y="63500"/>
                </a:lnTo>
                <a:arcTo hR="25400" wR="88900" stAng="16200000" swAng="-5400000"/>
                <a:close/>
              </a:path>
            </a:pathLst>
          </a:custGeom>
          <a:solidFill>
            <a:srgbClr val="9E3F3F"/>
          </a:solidFill>
          <a:ln/>
        </p:spPr>
      </p:sp>
      <p:sp>
        <p:nvSpPr>
          <p:cNvPr id="29" name="Text 27"/>
          <p:cNvSpPr/>
          <p:nvPr/>
        </p:nvSpPr>
        <p:spPr>
          <a:xfrm>
            <a:off x="8178800" y="2881511"/>
            <a:ext cx="3296412" cy="398760"/>
          </a:xfrm>
          <a:prstGeom prst="rect">
            <a:avLst/>
          </a:prstGeom>
          <a:noFill/>
          <a:ln/>
        </p:spPr>
        <p:txBody>
          <a:bodyPr wrap="square" lIns="0" tIns="0" rIns="0" bIns="0" rtlCol="0" anchor="t">
            <a:normAutofit/>
          </a:bodyPr>
          <a:lstStyle/>
          <a:p>
            <a:pPr algn="l" indent="0" marL="0">
              <a:lnSpc>
                <a:spcPts val="2940"/>
              </a:lnSpc>
              <a:buNone/>
            </a:pPr>
            <a:r>
              <a:rPr lang="en-US" sz="2100" b="1" dirty="0">
                <a:solidFill>
                  <a:srgbClr val="5A252C"/>
                </a:solidFill>
                <a:latin typeface="Poppins" pitchFamily="34" charset="0"/>
                <a:ea typeface="Poppins" pitchFamily="34" charset="-122"/>
                <a:cs typeface="Poppins" pitchFamily="34" charset="-120"/>
              </a:rPr>
              <a:t>Outcomes</a:t>
            </a:r>
            <a:endParaRPr lang="en-US" sz="2100" dirty="0"/>
          </a:p>
        </p:txBody>
      </p:sp>
      <p:sp>
        <p:nvSpPr>
          <p:cNvPr id="30" name="Text 28"/>
          <p:cNvSpPr/>
          <p:nvPr/>
        </p:nvSpPr>
        <p:spPr>
          <a:xfrm>
            <a:off x="8178800" y="3318371"/>
            <a:ext cx="3296412"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1417"/>
                </a:solidFill>
                <a:latin typeface="Inter" pitchFamily="34" charset="0"/>
                <a:ea typeface="Inter" pitchFamily="34" charset="-122"/>
                <a:cs typeface="Inter" pitchFamily="34" charset="-120"/>
              </a:rPr>
              <a:t>Muscle size (hypertrophy), % change</a:t>
            </a:r>
            <a:endParaRPr lang="en-US" sz="1800" dirty="0"/>
          </a:p>
        </p:txBody>
      </p:sp>
      <p:sp>
        <p:nvSpPr>
          <p:cNvPr id="31" name="Text 29"/>
          <p:cNvSpPr/>
          <p:nvPr/>
        </p:nvSpPr>
        <p:spPr>
          <a:xfrm>
            <a:off x="8178800" y="3976191"/>
            <a:ext cx="3296412"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1417"/>
                </a:solidFill>
                <a:latin typeface="Inter" pitchFamily="34" charset="0"/>
                <a:ea typeface="Inter" pitchFamily="34" charset="-122"/>
                <a:cs typeface="Inter" pitchFamily="34" charset="-120"/>
              </a:rPr>
              <a:t>Strength (1RM and similar), % change</a:t>
            </a:r>
            <a:endParaRPr lang="en-US" sz="1800" dirty="0"/>
          </a:p>
        </p:txBody>
      </p:sp>
      <p:sp>
        <p:nvSpPr>
          <p:cNvPr id="32" name="Text 30"/>
          <p:cNvSpPr/>
          <p:nvPr/>
        </p:nvSpPr>
        <p:spPr>
          <a:xfrm>
            <a:off x="8178800" y="4634012"/>
            <a:ext cx="3296412"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6B4A4D"/>
                </a:solidFill>
                <a:latin typeface="Inter" pitchFamily="34" charset="0"/>
                <a:ea typeface="Inter" pitchFamily="34" charset="-122"/>
                <a:cs typeface="Inter" pitchFamily="34" charset="-120"/>
              </a:rPr>
              <a:t>No numeric protein column in the file.</a:t>
            </a:r>
            <a:endParaRPr lang="en-US" sz="1600" dirty="0"/>
          </a:p>
        </p:txBody>
      </p:sp>
      <p:sp>
        <p:nvSpPr>
          <p:cNvPr id="33" name="Text 31"/>
          <p:cNvSpPr/>
          <p:nvPr/>
        </p:nvSpPr>
        <p:spPr>
          <a:xfrm>
            <a:off x="635000" y="5467052"/>
            <a:ext cx="10922000" cy="990600"/>
          </a:xfrm>
          <a:prstGeom prst="roundRect">
            <a:avLst>
              <a:gd name="adj" fmla="val 6410"/>
            </a:avLst>
          </a:prstGeom>
          <a:solidFill>
            <a:srgbClr val="5A252C"/>
          </a:solidFill>
          <a:ln/>
        </p:spPr>
        <p:txBody>
          <a:bodyPr wrap="square" lIns="286201" tIns="133801" rIns="0" bIns="108401" rtlCol="0" anchor="t">
            <a:normAutofit/>
          </a:bodyPr>
          <a:lstStyle/>
          <a:p>
            <a:pPr algn="l" indent="0" marL="0">
              <a:lnSpc>
                <a:spcPts val="2700"/>
              </a:lnSpc>
              <a:buNone/>
            </a:pPr>
            <a:r>
              <a:rPr lang="en-US" sz="2000" dirty="0">
                <a:solidFill>
                  <a:srgbClr val="FFFFFF"/>
                </a:solidFill>
                <a:latin typeface="Inter" pitchFamily="34" charset="0"/>
                <a:ea typeface="Inter" pitchFamily="34" charset="-122"/>
                <a:cs typeface="Inter" pitchFamily="34" charset="-120"/>
              </a:rPr>
              <a:t>Real data with a documented source, but group averages: results describe groups, not people.</a:t>
            </a:r>
            <a:endParaRPr lang="en-US" sz="2000" dirty="0"/>
          </a:p>
        </p:txBody>
      </p:sp>
      <p:sp>
        <p:nvSpPr>
          <p:cNvPr id="34" name="Shape 32"/>
          <p:cNvSpPr/>
          <p:nvPr/>
        </p:nvSpPr>
        <p:spPr>
          <a:xfrm>
            <a:off x="635000" y="5467052"/>
            <a:ext cx="10922000" cy="990600"/>
          </a:xfrm>
          <a:custGeom>
            <a:avLst/>
            <a:gdLst/>
            <a:ahLst/>
            <a:cxnLst/>
            <a:rect l="l" t="t" r="r" b="b"/>
            <a:pathLst>
              <a:path w="10922000" h="990600">
                <a:moveTo>
                  <a:pt x="76200" y="990600"/>
                </a:moveTo>
                <a:lnTo>
                  <a:pt x="63500" y="990600"/>
                </a:lnTo>
                <a:arcTo hR="63500" wR="63500" stAng="5400000" swAng="5400000"/>
                <a:lnTo>
                  <a:pt x="0" y="63500"/>
                </a:lnTo>
                <a:arcTo hR="63500" wR="63500" stAng="10800000" swAng="5400000"/>
                <a:lnTo>
                  <a:pt x="76200" y="0"/>
                </a:lnTo>
                <a:lnTo>
                  <a:pt x="76200" y="990600"/>
                </a:lnTo>
                <a:close/>
              </a:path>
            </a:pathLst>
          </a:custGeom>
          <a:solidFill>
            <a:srgbClr val="C9797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Exploratory Data Analysis</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6</a:t>
            </a:r>
            <a:endParaRPr lang="en-US" sz="2000" dirty="0"/>
          </a:p>
        </p:txBody>
      </p:sp>
      <p:sp>
        <p:nvSpPr>
          <p:cNvPr id="6" name="Shape 4"/>
          <p:cNvSpPr/>
          <p:nvPr/>
        </p:nvSpPr>
        <p:spPr>
          <a:xfrm>
            <a:off x="635000" y="1181100"/>
            <a:ext cx="5365750" cy="2044700"/>
          </a:xfrm>
          <a:prstGeom prst="roundRect">
            <a:avLst>
              <a:gd name="adj" fmla="val 4348"/>
            </a:avLst>
          </a:prstGeom>
          <a:solidFill>
            <a:srgbClr val="FFFFFF"/>
          </a:solidFill>
          <a:ln/>
          <a:effectLst>
            <a:outerShdw sx="100000" sy="100000" kx="0" ky="0" algn="bl" rotWithShape="0" blurRad="101600" dist="25400" dir="5400000">
              <a:srgbClr val="5A252C">
                <a:alpha val="18000"/>
              </a:srgbClr>
            </a:outerShdw>
          </a:effectLst>
        </p:spPr>
      </p:sp>
      <p:pic>
        <p:nvPicPr>
          <p:cNvPr id="7" name="Image 0" descr="Boxplots of muscle change and strength change by training frequency level">    </p:cNvPr>
          <p:cNvPicPr>
            <a:picLocks noChangeAspect="1"/>
          </p:cNvPicPr>
          <p:nvPr/>
        </p:nvPicPr>
        <p:blipFill>
          <a:blip r:embed="rId1"/>
          <a:srcRect l="-79" r="-79" t="0" b="0"/>
          <a:stretch/>
        </p:blipFill>
        <p:spPr>
          <a:xfrm>
            <a:off x="635000" y="1181100"/>
            <a:ext cx="5365750" cy="2044700"/>
          </a:xfrm>
          <a:prstGeom prst="roundRect">
            <a:avLst>
              <a:gd name="adj" fmla="val 4348"/>
            </a:avLst>
          </a:prstGeom>
        </p:spPr>
      </p:pic>
      <p:sp>
        <p:nvSpPr>
          <p:cNvPr id="8" name="Text 5"/>
          <p:cNvSpPr/>
          <p:nvPr/>
        </p:nvSpPr>
        <p:spPr>
          <a:xfrm>
            <a:off x="635000" y="3302000"/>
            <a:ext cx="5526723"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6B4A4D"/>
                </a:solidFill>
                <a:latin typeface="Inter" pitchFamily="34" charset="0"/>
                <a:ea typeface="Inter" pitchFamily="34" charset="-122"/>
                <a:cs typeface="Inter" pitchFamily="34" charset="-120"/>
              </a:rPr>
              <a:t>Figure 1.</a:t>
            </a:r>
            <a:r>
              <a:rPr lang="en-US" sz="1400" dirty="0">
                <a:solidFill>
                  <a:srgbClr val="6B4A4D"/>
                </a:solidFill>
                <a:latin typeface="Inter" pitchFamily="34" charset="0"/>
                <a:ea typeface="Inter" pitchFamily="34" charset="-122"/>
                <a:cs typeface="Inter" pitchFamily="34" charset="-120"/>
              </a:rPr>
              <a:t> </a:t>
            </a:r>
            <a:r>
              <a:rPr lang="en-US" sz="1400" i="1" dirty="0">
                <a:solidFill>
                  <a:srgbClr val="6B4A4D"/>
                </a:solidFill>
                <a:latin typeface="Inter" pitchFamily="34" charset="0"/>
                <a:ea typeface="Inter" pitchFamily="34" charset="-122"/>
                <a:cs typeface="Inter" pitchFamily="34" charset="-120"/>
              </a:rPr>
              <a:t>Change by sessions per muscle per week.</a:t>
            </a:r>
            <a:endParaRPr lang="en-US" sz="1400" dirty="0"/>
          </a:p>
        </p:txBody>
      </p:sp>
      <p:sp>
        <p:nvSpPr>
          <p:cNvPr id="9" name="Shape 6"/>
          <p:cNvSpPr/>
          <p:nvPr/>
        </p:nvSpPr>
        <p:spPr>
          <a:xfrm>
            <a:off x="6191250" y="1181100"/>
            <a:ext cx="5365750" cy="2044700"/>
          </a:xfrm>
          <a:prstGeom prst="roundRect">
            <a:avLst>
              <a:gd name="adj" fmla="val 4348"/>
            </a:avLst>
          </a:prstGeom>
          <a:solidFill>
            <a:srgbClr val="FFFFFF"/>
          </a:solidFill>
          <a:ln/>
          <a:effectLst>
            <a:outerShdw sx="100000" sy="100000" kx="0" ky="0" algn="bl" rotWithShape="0" blurRad="101600" dist="25400" dir="5400000">
              <a:srgbClr val="5A252C">
                <a:alpha val="18000"/>
              </a:srgbClr>
            </a:outerShdw>
          </a:effectLst>
        </p:spPr>
      </p:sp>
      <p:pic>
        <p:nvPicPr>
          <p:cNvPr id="10" name="Image 1" descr="Scatter of muscle change and strength change against weekly sets with smoothed lines">    </p:cNvPr>
          <p:cNvPicPr>
            <a:picLocks noChangeAspect="1"/>
          </p:cNvPicPr>
          <p:nvPr/>
        </p:nvPicPr>
        <p:blipFill>
          <a:blip r:embed="rId2"/>
          <a:srcRect l="-79" r="-79" t="0" b="0"/>
          <a:stretch/>
        </p:blipFill>
        <p:spPr>
          <a:xfrm>
            <a:off x="6191250" y="1181100"/>
            <a:ext cx="5365750" cy="2044700"/>
          </a:xfrm>
          <a:prstGeom prst="roundRect">
            <a:avLst>
              <a:gd name="adj" fmla="val 4348"/>
            </a:avLst>
          </a:prstGeom>
        </p:spPr>
      </p:pic>
      <p:sp>
        <p:nvSpPr>
          <p:cNvPr id="11" name="Text 7"/>
          <p:cNvSpPr/>
          <p:nvPr/>
        </p:nvSpPr>
        <p:spPr>
          <a:xfrm>
            <a:off x="6191250" y="3302000"/>
            <a:ext cx="5526723"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6B4A4D"/>
                </a:solidFill>
                <a:latin typeface="Inter" pitchFamily="34" charset="0"/>
                <a:ea typeface="Inter" pitchFamily="34" charset="-122"/>
                <a:cs typeface="Inter" pitchFamily="34" charset="-120"/>
              </a:rPr>
              <a:t>Figure 2.</a:t>
            </a:r>
            <a:r>
              <a:rPr lang="en-US" sz="1400" dirty="0">
                <a:solidFill>
                  <a:srgbClr val="6B4A4D"/>
                </a:solidFill>
                <a:latin typeface="Inter" pitchFamily="34" charset="0"/>
                <a:ea typeface="Inter" pitchFamily="34" charset="-122"/>
                <a:cs typeface="Inter" pitchFamily="34" charset="-120"/>
              </a:rPr>
              <a:t> </a:t>
            </a:r>
            <a:r>
              <a:rPr lang="en-US" sz="1400" i="1" dirty="0">
                <a:solidFill>
                  <a:srgbClr val="6B4A4D"/>
                </a:solidFill>
                <a:latin typeface="Inter" pitchFamily="34" charset="0"/>
                <a:ea typeface="Inter" pitchFamily="34" charset="-122"/>
                <a:cs typeface="Inter" pitchFamily="34" charset="-120"/>
              </a:rPr>
              <a:t>Change by weekly hard sets, with a lowess line.</a:t>
            </a:r>
            <a:endParaRPr lang="en-US" sz="1400" dirty="0"/>
          </a:p>
        </p:txBody>
      </p:sp>
      <p:sp>
        <p:nvSpPr>
          <p:cNvPr id="12" name="Shape 8"/>
          <p:cNvSpPr/>
          <p:nvPr/>
        </p:nvSpPr>
        <p:spPr>
          <a:xfrm>
            <a:off x="635000" y="3685480"/>
            <a:ext cx="3539034" cy="1206401"/>
          </a:xfrm>
          <a:prstGeom prst="roundRect">
            <a:avLst>
              <a:gd name="adj" fmla="val 7369"/>
            </a:avLst>
          </a:prstGeom>
          <a:solidFill>
            <a:srgbClr val="5A252C"/>
          </a:solidFill>
          <a:ln/>
          <a:effectLst>
            <a:outerShdw sx="100000" sy="100000" kx="0" ky="0" algn="bl" rotWithShape="0" blurRad="101600" dist="25400" dir="5400000">
              <a:srgbClr val="5A252C">
                <a:alpha val="18000"/>
              </a:srgbClr>
            </a:outerShdw>
          </a:effectLst>
        </p:spPr>
      </p:sp>
      <p:sp>
        <p:nvSpPr>
          <p:cNvPr id="13" name="Text 9"/>
          <p:cNvSpPr/>
          <p:nvPr/>
        </p:nvSpPr>
        <p:spPr>
          <a:xfrm>
            <a:off x="825500" y="3837880"/>
            <a:ext cx="325277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r = .27 / .21</a:t>
            </a:r>
            <a:endParaRPr lang="en-US" sz="2400" dirty="0"/>
          </a:p>
        </p:txBody>
      </p:sp>
      <p:sp>
        <p:nvSpPr>
          <p:cNvPr id="14" name="Text 10"/>
          <p:cNvSpPr/>
          <p:nvPr/>
        </p:nvSpPr>
        <p:spPr>
          <a:xfrm>
            <a:off x="825500" y="4211241"/>
            <a:ext cx="325277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frequency with hypertrophy / strength</a:t>
            </a:r>
            <a:endParaRPr lang="en-US" sz="1600" dirty="0"/>
          </a:p>
        </p:txBody>
      </p:sp>
      <p:sp>
        <p:nvSpPr>
          <p:cNvPr id="15" name="Shape 11"/>
          <p:cNvSpPr/>
          <p:nvPr/>
        </p:nvSpPr>
        <p:spPr>
          <a:xfrm>
            <a:off x="4326434" y="3685480"/>
            <a:ext cx="3539133" cy="1206401"/>
          </a:xfrm>
          <a:prstGeom prst="roundRect">
            <a:avLst>
              <a:gd name="adj" fmla="val 7369"/>
            </a:avLst>
          </a:prstGeom>
          <a:solidFill>
            <a:srgbClr val="9E3F3F"/>
          </a:solidFill>
          <a:ln/>
          <a:effectLst>
            <a:outerShdw sx="100000" sy="100000" kx="0" ky="0" algn="bl" rotWithShape="0" blurRad="101600" dist="25400" dir="5400000">
              <a:srgbClr val="5A252C">
                <a:alpha val="18000"/>
              </a:srgbClr>
            </a:outerShdw>
          </a:effectLst>
        </p:spPr>
      </p:sp>
      <p:sp>
        <p:nvSpPr>
          <p:cNvPr id="16" name="Text 12"/>
          <p:cNvSpPr/>
          <p:nvPr/>
        </p:nvSpPr>
        <p:spPr>
          <a:xfrm>
            <a:off x="4516934" y="3837880"/>
            <a:ext cx="3252877"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r = .21 / −.09</a:t>
            </a:r>
            <a:endParaRPr lang="en-US" sz="2400" dirty="0"/>
          </a:p>
        </p:txBody>
      </p:sp>
      <p:sp>
        <p:nvSpPr>
          <p:cNvPr id="17" name="Text 13"/>
          <p:cNvSpPr/>
          <p:nvPr/>
        </p:nvSpPr>
        <p:spPr>
          <a:xfrm>
            <a:off x="4516934" y="4211241"/>
            <a:ext cx="3252877"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weekly sets with hypertrophy / strength</a:t>
            </a:r>
            <a:endParaRPr lang="en-US" sz="1600" dirty="0"/>
          </a:p>
        </p:txBody>
      </p:sp>
      <p:sp>
        <p:nvSpPr>
          <p:cNvPr id="18" name="Shape 14"/>
          <p:cNvSpPr/>
          <p:nvPr/>
        </p:nvSpPr>
        <p:spPr>
          <a:xfrm>
            <a:off x="8017966" y="3685480"/>
            <a:ext cx="3539034" cy="1206401"/>
          </a:xfrm>
          <a:prstGeom prst="roundRect">
            <a:avLst>
              <a:gd name="adj" fmla="val 7369"/>
            </a:avLst>
          </a:prstGeom>
          <a:solidFill>
            <a:srgbClr val="5A252C"/>
          </a:solidFill>
          <a:ln/>
          <a:effectLst>
            <a:outerShdw sx="100000" sy="100000" kx="0" ky="0" algn="bl" rotWithShape="0" blurRad="101600" dist="25400" dir="5400000">
              <a:srgbClr val="5A252C">
                <a:alpha val="18000"/>
              </a:srgbClr>
            </a:outerShdw>
          </a:effectLst>
        </p:spPr>
      </p:sp>
      <p:sp>
        <p:nvSpPr>
          <p:cNvPr id="19" name="Text 15"/>
          <p:cNvSpPr/>
          <p:nvPr/>
        </p:nvSpPr>
        <p:spPr>
          <a:xfrm>
            <a:off x="8208466" y="3837880"/>
            <a:ext cx="325277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r = −.23 / −.38</a:t>
            </a:r>
            <a:endParaRPr lang="en-US" sz="2400" dirty="0"/>
          </a:p>
        </p:txBody>
      </p:sp>
      <p:sp>
        <p:nvSpPr>
          <p:cNvPr id="20" name="Text 16"/>
          <p:cNvSpPr/>
          <p:nvPr/>
        </p:nvSpPr>
        <p:spPr>
          <a:xfrm>
            <a:off x="8208466" y="4211241"/>
            <a:ext cx="325277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trained vs. untrained groups, with gains</a:t>
            </a:r>
            <a:endParaRPr lang="en-US" sz="1600" dirty="0"/>
          </a:p>
        </p:txBody>
      </p:sp>
      <p:sp>
        <p:nvSpPr>
          <p:cNvPr id="21" name="Text 17"/>
          <p:cNvSpPr/>
          <p:nvPr/>
        </p:nvSpPr>
        <p:spPr>
          <a:xfrm>
            <a:off x="635000" y="5044281"/>
            <a:ext cx="10922000" cy="990600"/>
          </a:xfrm>
          <a:prstGeom prst="roundRect">
            <a:avLst>
              <a:gd name="adj" fmla="val 6410"/>
            </a:avLst>
          </a:prstGeom>
          <a:solidFill>
            <a:srgbClr val="5A252C"/>
          </a:solidFill>
          <a:ln/>
        </p:spPr>
        <p:txBody>
          <a:bodyPr wrap="square" lIns="286201" tIns="133801" rIns="0" bIns="108401" rtlCol="0" anchor="t">
            <a:normAutofit/>
          </a:bodyPr>
          <a:lstStyle/>
          <a:p>
            <a:pPr algn="l" indent="0" marL="0">
              <a:lnSpc>
                <a:spcPts val="2700"/>
              </a:lnSpc>
              <a:buNone/>
            </a:pPr>
            <a:r>
              <a:rPr lang="en-US" sz="2000" dirty="0">
                <a:solidFill>
                  <a:srgbClr val="FFFFFF"/>
                </a:solidFill>
                <a:latin typeface="Inter" pitchFamily="34" charset="0"/>
                <a:ea typeface="Inter" pitchFamily="34" charset="-122"/>
                <a:cs typeface="Inter" pitchFamily="34" charset="-120"/>
              </a:rPr>
              <a:t>Frequency goes with both gains. Volume goes with muscle size only. Beginners gain the most.</a:t>
            </a:r>
            <a:endParaRPr lang="en-US" sz="2000" dirty="0"/>
          </a:p>
        </p:txBody>
      </p:sp>
      <p:sp>
        <p:nvSpPr>
          <p:cNvPr id="22" name="Shape 18"/>
          <p:cNvSpPr/>
          <p:nvPr/>
        </p:nvSpPr>
        <p:spPr>
          <a:xfrm>
            <a:off x="635000" y="5044281"/>
            <a:ext cx="10922000" cy="990600"/>
          </a:xfrm>
          <a:custGeom>
            <a:avLst/>
            <a:gdLst/>
            <a:ahLst/>
            <a:cxnLst/>
            <a:rect l="l" t="t" r="r" b="b"/>
            <a:pathLst>
              <a:path w="10922000" h="990600">
                <a:moveTo>
                  <a:pt x="76200" y="990600"/>
                </a:moveTo>
                <a:lnTo>
                  <a:pt x="63500" y="990600"/>
                </a:lnTo>
                <a:arcTo hR="63500" wR="63500" stAng="5400000" swAng="5400000"/>
                <a:lnTo>
                  <a:pt x="0" y="63500"/>
                </a:lnTo>
                <a:arcTo hR="63500" wR="63500" stAng="10800000" swAng="5400000"/>
                <a:lnTo>
                  <a:pt x="76200" y="0"/>
                </a:lnTo>
                <a:lnTo>
                  <a:pt x="76200" y="990600"/>
                </a:lnTo>
                <a:close/>
              </a:path>
            </a:pathLst>
          </a:custGeom>
          <a:solidFill>
            <a:srgbClr val="C97979"/>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Data Cleaning Process</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7</a:t>
            </a:r>
            <a:endParaRPr lang="en-US" sz="2000" dirty="0"/>
          </a:p>
        </p:txBody>
      </p:sp>
      <p:sp>
        <p:nvSpPr>
          <p:cNvPr id="6" name="Text 4"/>
          <p:cNvSpPr/>
          <p:nvPr/>
        </p:nvSpPr>
        <p:spPr>
          <a:xfrm>
            <a:off x="635000" y="1181100"/>
            <a:ext cx="11249660" cy="398760"/>
          </a:xfrm>
          <a:prstGeom prst="rect">
            <a:avLst/>
          </a:prstGeom>
          <a:noFill/>
          <a:ln/>
        </p:spPr>
        <p:txBody>
          <a:bodyPr wrap="square" lIns="0" tIns="0" rIns="0" bIns="0" rtlCol="0" anchor="t">
            <a:normAutofit/>
          </a:bodyPr>
          <a:lstStyle/>
          <a:p>
            <a:pPr algn="l" indent="0" marL="0">
              <a:lnSpc>
                <a:spcPts val="2940"/>
              </a:lnSpc>
              <a:buNone/>
            </a:pPr>
            <a:r>
              <a:rPr lang="en-US" sz="2100" b="1" dirty="0">
                <a:solidFill>
                  <a:srgbClr val="9E3F3F"/>
                </a:solidFill>
                <a:latin typeface="Poppins" pitchFamily="34" charset="0"/>
                <a:ea typeface="Poppins" pitchFamily="34" charset="-122"/>
                <a:cs typeface="Poppins" pitchFamily="34" charset="-120"/>
              </a:rPr>
              <a:t>What we changed</a:t>
            </a:r>
            <a:endParaRPr lang="en-US" sz="2100" dirty="0"/>
          </a:p>
        </p:txBody>
      </p:sp>
      <p:sp>
        <p:nvSpPr>
          <p:cNvPr id="7" name="Shape 5"/>
          <p:cNvSpPr/>
          <p:nvPr/>
        </p:nvSpPr>
        <p:spPr>
          <a:xfrm>
            <a:off x="635000" y="1681460"/>
            <a:ext cx="2425700" cy="1951236"/>
          </a:xfrm>
          <a:prstGeom prst="roundRect">
            <a:avLst>
              <a:gd name="adj" fmla="val 4556"/>
            </a:avLst>
          </a:prstGeom>
          <a:solidFill>
            <a:srgbClr val="FFFFFF"/>
          </a:solidFill>
          <a:ln/>
          <a:effectLst>
            <a:outerShdw sx="100000" sy="100000" kx="0" ky="0" algn="bl" rotWithShape="0" blurRad="101600" dist="25400" dir="5400000">
              <a:srgbClr val="5A252C">
                <a:alpha val="18000"/>
              </a:srgbClr>
            </a:outerShdw>
          </a:effectLst>
        </p:spPr>
      </p:sp>
      <p:sp>
        <p:nvSpPr>
          <p:cNvPr id="8" name="Shape 6"/>
          <p:cNvSpPr/>
          <p:nvPr/>
        </p:nvSpPr>
        <p:spPr>
          <a:xfrm>
            <a:off x="635000" y="1681460"/>
            <a:ext cx="2425700" cy="1951236"/>
          </a:xfrm>
          <a:custGeom>
            <a:avLst/>
            <a:gdLst/>
            <a:ahLst/>
            <a:cxnLst/>
            <a:rect l="l" t="t" r="r" b="b"/>
            <a:pathLst>
              <a:path w="2425700" h="1951236">
                <a:moveTo>
                  <a:pt x="0" y="88900"/>
                </a:moveTo>
                <a:lnTo>
                  <a:pt x="0" y="88900"/>
                </a:lnTo>
                <a:arcTo hR="88900" wR="88900" stAng="10800000" swAng="5400000"/>
                <a:lnTo>
                  <a:pt x="2336800" y="0"/>
                </a:lnTo>
                <a:arcTo hR="88900" wR="88900" stAng="16200000" swAng="5400000"/>
                <a:lnTo>
                  <a:pt x="2425700" y="88900"/>
                </a:lnTo>
                <a:arcTo hR="25400" wR="88900" stAng="0" swAng="-5400000"/>
                <a:lnTo>
                  <a:pt x="88900" y="63500"/>
                </a:lnTo>
                <a:arcTo hR="25400" wR="88900" stAng="16200000" swAng="-5400000"/>
                <a:close/>
              </a:path>
            </a:pathLst>
          </a:custGeom>
          <a:solidFill>
            <a:srgbClr val="9E3F3F"/>
          </a:solidFill>
          <a:ln/>
        </p:spPr>
      </p:sp>
      <p:sp>
        <p:nvSpPr>
          <p:cNvPr id="9" name="Text 7"/>
          <p:cNvSpPr/>
          <p:nvPr/>
        </p:nvSpPr>
        <p:spPr>
          <a:xfrm>
            <a:off x="774700" y="1871960"/>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9E3F3F"/>
          </a:solidFill>
          <a:ln/>
        </p:spPr>
        <p:txBody>
          <a:bodyPr wrap="square" lIns="0" tIns="0" rIns="0" bIns="0" rtlCol="0" anchor="t">
            <a:normAutofit/>
          </a:bodyPr>
          <a:lstStyle/>
          <a:p>
            <a:pPr algn="ctr" indent="0" marL="0">
              <a:lnSpc>
                <a:spcPts val="3008"/>
              </a:lnSpc>
              <a:buNone/>
            </a:pPr>
            <a:r>
              <a:rPr lang="en-US" sz="1600" b="1" dirty="0">
                <a:solidFill>
                  <a:srgbClr val="FFFFFF"/>
                </a:solidFill>
                <a:latin typeface="Poppins" pitchFamily="34" charset="0"/>
                <a:ea typeface="Poppins" pitchFamily="34" charset="-122"/>
                <a:cs typeface="Poppins" pitchFamily="34" charset="-120"/>
              </a:rPr>
              <a:t>1</a:t>
            </a:r>
            <a:endParaRPr lang="en-US" sz="1600" dirty="0"/>
          </a:p>
        </p:txBody>
      </p:sp>
      <p:sp>
        <p:nvSpPr>
          <p:cNvPr id="10" name="Text 8"/>
          <p:cNvSpPr/>
          <p:nvPr/>
        </p:nvSpPr>
        <p:spPr>
          <a:xfrm>
            <a:off x="774700" y="2329160"/>
            <a:ext cx="2210689" cy="581025"/>
          </a:xfrm>
          <a:prstGeom prst="rect">
            <a:avLst/>
          </a:prstGeom>
          <a:noFill/>
          <a:ln/>
        </p:spPr>
        <p:txBody>
          <a:bodyPr wrap="square" lIns="0" tIns="0" rIns="0" bIns="0" rtlCol="0" anchor="t">
            <a:normAutofit/>
          </a:bodyPr>
          <a:lstStyle/>
          <a:p>
            <a:pPr algn="l" indent="0" marL="0">
              <a:lnSpc>
                <a:spcPts val="2188"/>
              </a:lnSpc>
              <a:buNone/>
            </a:pPr>
            <a:r>
              <a:rPr lang="en-US" sz="1750" b="1" dirty="0">
                <a:solidFill>
                  <a:srgbClr val="5A252C"/>
                </a:solidFill>
                <a:latin typeface="Poppins" pitchFamily="34" charset="0"/>
                <a:ea typeface="Poppins" pitchFamily="34" charset="-122"/>
                <a:cs typeface="Poppins" pitchFamily="34" charset="-120"/>
              </a:rPr>
              <a:t>Percent change outcome</a:t>
            </a:r>
            <a:endParaRPr lang="en-US" sz="1750" dirty="0"/>
          </a:p>
        </p:txBody>
      </p:sp>
      <p:sp>
        <p:nvSpPr>
          <p:cNvPr id="11" name="Text 9"/>
          <p:cNvSpPr/>
          <p:nvPr/>
        </p:nvSpPr>
        <p:spPr>
          <a:xfrm>
            <a:off x="774700" y="2960985"/>
            <a:ext cx="2210689" cy="297755"/>
          </a:xfrm>
          <a:prstGeom prst="rect">
            <a:avLst/>
          </a:prstGeom>
          <a:noFill/>
          <a:ln/>
        </p:spPr>
        <p:txBody>
          <a:bodyPr wrap="square" lIns="0" tIns="0" rIns="0" bIns="0" rtlCol="0" anchor="t">
            <a:normAutofit/>
          </a:bodyPr>
          <a:lstStyle/>
          <a:p>
            <a:pPr algn="l" indent="0" marL="0">
              <a:lnSpc>
                <a:spcPts val="2145"/>
              </a:lnSpc>
              <a:buNone/>
            </a:pPr>
            <a:r>
              <a:rPr lang="en-US" sz="1650" dirty="0">
                <a:solidFill>
                  <a:srgbClr val="6B4A4D"/>
                </a:solidFill>
                <a:latin typeface="Inter" pitchFamily="34" charset="0"/>
                <a:ea typeface="Inter" pitchFamily="34" charset="-122"/>
                <a:cs typeface="Inter" pitchFamily="34" charset="-120"/>
              </a:rPr>
              <a:t>(post − pre) / pre</a:t>
            </a:r>
            <a:endParaRPr lang="en-US" sz="1650" dirty="0"/>
          </a:p>
        </p:txBody>
      </p:sp>
      <p:sp>
        <p:nvSpPr>
          <p:cNvPr id="12" name="Text 10"/>
          <p:cNvSpPr/>
          <p:nvPr/>
        </p:nvSpPr>
        <p:spPr>
          <a:xfrm>
            <a:off x="3060700" y="2417068"/>
            <a:ext cx="406400" cy="505420"/>
          </a:xfrm>
          <a:prstGeom prst="rect">
            <a:avLst/>
          </a:prstGeom>
          <a:noFill/>
          <a:ln/>
        </p:spPr>
        <p:txBody>
          <a:bodyPr wrap="square" lIns="0" tIns="0" rIns="0" bIns="0" rtlCol="0" anchor="t">
            <a:normAutofit/>
          </a:bodyPr>
          <a:lstStyle/>
          <a:p>
            <a:pPr algn="ctr" indent="0" marL="0">
              <a:lnSpc>
                <a:spcPts val="3780"/>
              </a:lnSpc>
              <a:buNone/>
            </a:pPr>
            <a:r>
              <a:rPr lang="en-US" sz="2700" b="1" dirty="0">
                <a:solidFill>
                  <a:srgbClr val="C97979"/>
                </a:solidFill>
                <a:latin typeface="Inter" pitchFamily="34" charset="0"/>
                <a:ea typeface="Inter" pitchFamily="34" charset="-122"/>
                <a:cs typeface="Inter" pitchFamily="34" charset="-120"/>
              </a:rPr>
              <a:t>→</a:t>
            </a:r>
            <a:endParaRPr lang="en-US" sz="2700" dirty="0"/>
          </a:p>
        </p:txBody>
      </p:sp>
      <p:sp>
        <p:nvSpPr>
          <p:cNvPr id="13" name="Shape 11"/>
          <p:cNvSpPr/>
          <p:nvPr/>
        </p:nvSpPr>
        <p:spPr>
          <a:xfrm>
            <a:off x="3467100" y="1681460"/>
            <a:ext cx="2425700" cy="1951236"/>
          </a:xfrm>
          <a:prstGeom prst="roundRect">
            <a:avLst>
              <a:gd name="adj" fmla="val 4556"/>
            </a:avLst>
          </a:prstGeom>
          <a:solidFill>
            <a:srgbClr val="FFFFFF"/>
          </a:solidFill>
          <a:ln/>
          <a:effectLst>
            <a:outerShdw sx="100000" sy="100000" kx="0" ky="0" algn="bl" rotWithShape="0" blurRad="101600" dist="25400" dir="5400000">
              <a:srgbClr val="5A252C">
                <a:alpha val="18000"/>
              </a:srgbClr>
            </a:outerShdw>
          </a:effectLst>
        </p:spPr>
      </p:sp>
      <p:sp>
        <p:nvSpPr>
          <p:cNvPr id="14" name="Shape 12"/>
          <p:cNvSpPr/>
          <p:nvPr/>
        </p:nvSpPr>
        <p:spPr>
          <a:xfrm>
            <a:off x="3467100" y="1681460"/>
            <a:ext cx="2425700" cy="1951236"/>
          </a:xfrm>
          <a:custGeom>
            <a:avLst/>
            <a:gdLst/>
            <a:ahLst/>
            <a:cxnLst/>
            <a:rect l="l" t="t" r="r" b="b"/>
            <a:pathLst>
              <a:path w="2425700" h="1951236">
                <a:moveTo>
                  <a:pt x="0" y="88900"/>
                </a:moveTo>
                <a:lnTo>
                  <a:pt x="0" y="88900"/>
                </a:lnTo>
                <a:arcTo hR="88900" wR="88900" stAng="10800000" swAng="5400000"/>
                <a:lnTo>
                  <a:pt x="2336800" y="0"/>
                </a:lnTo>
                <a:arcTo hR="88900" wR="88900" stAng="16200000" swAng="5400000"/>
                <a:lnTo>
                  <a:pt x="2425700" y="88900"/>
                </a:lnTo>
                <a:arcTo hR="25400" wR="88900" stAng="0" swAng="-5400000"/>
                <a:lnTo>
                  <a:pt x="88900" y="63500"/>
                </a:lnTo>
                <a:arcTo hR="25400" wR="88900" stAng="16200000" swAng="-5400000"/>
                <a:close/>
              </a:path>
            </a:pathLst>
          </a:custGeom>
          <a:solidFill>
            <a:srgbClr val="9E3F3F"/>
          </a:solidFill>
          <a:ln/>
        </p:spPr>
      </p:sp>
      <p:sp>
        <p:nvSpPr>
          <p:cNvPr id="15" name="Text 13"/>
          <p:cNvSpPr/>
          <p:nvPr/>
        </p:nvSpPr>
        <p:spPr>
          <a:xfrm>
            <a:off x="3606800" y="1871960"/>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9E3F3F"/>
          </a:solidFill>
          <a:ln/>
        </p:spPr>
        <p:txBody>
          <a:bodyPr wrap="square" lIns="0" tIns="0" rIns="0" bIns="0" rtlCol="0" anchor="t">
            <a:normAutofit/>
          </a:bodyPr>
          <a:lstStyle/>
          <a:p>
            <a:pPr algn="ctr" indent="0" marL="0">
              <a:lnSpc>
                <a:spcPts val="3008"/>
              </a:lnSpc>
              <a:buNone/>
            </a:pPr>
            <a:r>
              <a:rPr lang="en-US" sz="1600" b="1" dirty="0">
                <a:solidFill>
                  <a:srgbClr val="FFFFFF"/>
                </a:solidFill>
                <a:latin typeface="Poppins" pitchFamily="34" charset="0"/>
                <a:ea typeface="Poppins" pitchFamily="34" charset="-122"/>
                <a:cs typeface="Poppins" pitchFamily="34" charset="-120"/>
              </a:rPr>
              <a:t>2</a:t>
            </a:r>
            <a:endParaRPr lang="en-US" sz="1600" dirty="0"/>
          </a:p>
        </p:txBody>
      </p:sp>
      <p:sp>
        <p:nvSpPr>
          <p:cNvPr id="16" name="Text 14"/>
          <p:cNvSpPr/>
          <p:nvPr/>
        </p:nvSpPr>
        <p:spPr>
          <a:xfrm>
            <a:off x="3606800" y="2329160"/>
            <a:ext cx="2210689" cy="581025"/>
          </a:xfrm>
          <a:prstGeom prst="rect">
            <a:avLst/>
          </a:prstGeom>
          <a:noFill/>
          <a:ln/>
        </p:spPr>
        <p:txBody>
          <a:bodyPr wrap="square" lIns="0" tIns="0" rIns="0" bIns="0" rtlCol="0" anchor="t">
            <a:normAutofit/>
          </a:bodyPr>
          <a:lstStyle/>
          <a:p>
            <a:pPr algn="l" indent="0" marL="0">
              <a:lnSpc>
                <a:spcPts val="2188"/>
              </a:lnSpc>
              <a:buNone/>
            </a:pPr>
            <a:r>
              <a:rPr lang="en-US" sz="1750" b="1" dirty="0">
                <a:solidFill>
                  <a:srgbClr val="5A252C"/>
                </a:solidFill>
                <a:latin typeface="Poppins" pitchFamily="34" charset="0"/>
                <a:ea typeface="Poppins" pitchFamily="34" charset="-122"/>
                <a:cs typeface="Poppins" pitchFamily="34" charset="-120"/>
              </a:rPr>
              <a:t>Removed 60 control rows</a:t>
            </a:r>
            <a:endParaRPr lang="en-US" sz="1750" dirty="0"/>
          </a:p>
        </p:txBody>
      </p:sp>
      <p:sp>
        <p:nvSpPr>
          <p:cNvPr id="17" name="Text 15"/>
          <p:cNvSpPr/>
          <p:nvPr/>
        </p:nvSpPr>
        <p:spPr>
          <a:xfrm>
            <a:off x="3606800" y="2960985"/>
            <a:ext cx="2210689" cy="297755"/>
          </a:xfrm>
          <a:prstGeom prst="rect">
            <a:avLst/>
          </a:prstGeom>
          <a:noFill/>
          <a:ln/>
        </p:spPr>
        <p:txBody>
          <a:bodyPr wrap="square" lIns="0" tIns="0" rIns="0" bIns="0" rtlCol="0" anchor="t">
            <a:normAutofit/>
          </a:bodyPr>
          <a:lstStyle/>
          <a:p>
            <a:pPr algn="l" indent="0" marL="0">
              <a:lnSpc>
                <a:spcPts val="2145"/>
              </a:lnSpc>
              <a:buNone/>
            </a:pPr>
            <a:r>
              <a:rPr lang="en-US" sz="1650" dirty="0">
                <a:solidFill>
                  <a:srgbClr val="6B4A4D"/>
                </a:solidFill>
                <a:latin typeface="Inter" pitchFamily="34" charset="0"/>
                <a:ea typeface="Inter" pitchFamily="34" charset="-122"/>
                <a:cs typeface="Inter" pitchFamily="34" charset="-120"/>
              </a:rPr>
              <a:t>no-training groups</a:t>
            </a:r>
            <a:endParaRPr lang="en-US" sz="1650" dirty="0"/>
          </a:p>
        </p:txBody>
      </p:sp>
      <p:sp>
        <p:nvSpPr>
          <p:cNvPr id="18" name="Text 16"/>
          <p:cNvSpPr/>
          <p:nvPr/>
        </p:nvSpPr>
        <p:spPr>
          <a:xfrm>
            <a:off x="5892800" y="2417068"/>
            <a:ext cx="406400" cy="505420"/>
          </a:xfrm>
          <a:prstGeom prst="rect">
            <a:avLst/>
          </a:prstGeom>
          <a:noFill/>
          <a:ln/>
        </p:spPr>
        <p:txBody>
          <a:bodyPr wrap="square" lIns="0" tIns="0" rIns="0" bIns="0" rtlCol="0" anchor="t">
            <a:normAutofit/>
          </a:bodyPr>
          <a:lstStyle/>
          <a:p>
            <a:pPr algn="ctr" indent="0" marL="0">
              <a:lnSpc>
                <a:spcPts val="3780"/>
              </a:lnSpc>
              <a:buNone/>
            </a:pPr>
            <a:r>
              <a:rPr lang="en-US" sz="2700" b="1" dirty="0">
                <a:solidFill>
                  <a:srgbClr val="C97979"/>
                </a:solidFill>
                <a:latin typeface="Inter" pitchFamily="34" charset="0"/>
                <a:ea typeface="Inter" pitchFamily="34" charset="-122"/>
                <a:cs typeface="Inter" pitchFamily="34" charset="-120"/>
              </a:rPr>
              <a:t>→</a:t>
            </a:r>
            <a:endParaRPr lang="en-US" sz="2700" dirty="0"/>
          </a:p>
        </p:txBody>
      </p:sp>
      <p:sp>
        <p:nvSpPr>
          <p:cNvPr id="19" name="Shape 17"/>
          <p:cNvSpPr/>
          <p:nvPr/>
        </p:nvSpPr>
        <p:spPr>
          <a:xfrm>
            <a:off x="6299200" y="1681460"/>
            <a:ext cx="2425700" cy="1951236"/>
          </a:xfrm>
          <a:prstGeom prst="roundRect">
            <a:avLst>
              <a:gd name="adj" fmla="val 4556"/>
            </a:avLst>
          </a:prstGeom>
          <a:solidFill>
            <a:srgbClr val="FFFFFF"/>
          </a:solidFill>
          <a:ln/>
          <a:effectLst>
            <a:outerShdw sx="100000" sy="100000" kx="0" ky="0" algn="bl" rotWithShape="0" blurRad="101600" dist="25400" dir="5400000">
              <a:srgbClr val="5A252C">
                <a:alpha val="18000"/>
              </a:srgbClr>
            </a:outerShdw>
          </a:effectLst>
        </p:spPr>
      </p:sp>
      <p:sp>
        <p:nvSpPr>
          <p:cNvPr id="20" name="Shape 18"/>
          <p:cNvSpPr/>
          <p:nvPr/>
        </p:nvSpPr>
        <p:spPr>
          <a:xfrm>
            <a:off x="6299200" y="1681460"/>
            <a:ext cx="2425700" cy="1951236"/>
          </a:xfrm>
          <a:custGeom>
            <a:avLst/>
            <a:gdLst/>
            <a:ahLst/>
            <a:cxnLst/>
            <a:rect l="l" t="t" r="r" b="b"/>
            <a:pathLst>
              <a:path w="2425700" h="1951236">
                <a:moveTo>
                  <a:pt x="0" y="88900"/>
                </a:moveTo>
                <a:lnTo>
                  <a:pt x="0" y="88900"/>
                </a:lnTo>
                <a:arcTo hR="88900" wR="88900" stAng="10800000" swAng="5400000"/>
                <a:lnTo>
                  <a:pt x="2336800" y="0"/>
                </a:lnTo>
                <a:arcTo hR="88900" wR="88900" stAng="16200000" swAng="5400000"/>
                <a:lnTo>
                  <a:pt x="2425700" y="88900"/>
                </a:lnTo>
                <a:arcTo hR="25400" wR="88900" stAng="0" swAng="-5400000"/>
                <a:lnTo>
                  <a:pt x="88900" y="63500"/>
                </a:lnTo>
                <a:arcTo hR="25400" wR="88900" stAng="16200000" swAng="-5400000"/>
                <a:close/>
              </a:path>
            </a:pathLst>
          </a:custGeom>
          <a:solidFill>
            <a:srgbClr val="9E3F3F"/>
          </a:solidFill>
          <a:ln/>
        </p:spPr>
      </p:sp>
      <p:sp>
        <p:nvSpPr>
          <p:cNvPr id="21" name="Text 19"/>
          <p:cNvSpPr/>
          <p:nvPr/>
        </p:nvSpPr>
        <p:spPr>
          <a:xfrm>
            <a:off x="6438900" y="1871960"/>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9E3F3F"/>
          </a:solidFill>
          <a:ln/>
        </p:spPr>
        <p:txBody>
          <a:bodyPr wrap="square" lIns="0" tIns="0" rIns="0" bIns="0" rtlCol="0" anchor="t">
            <a:normAutofit/>
          </a:bodyPr>
          <a:lstStyle/>
          <a:p>
            <a:pPr algn="ctr" indent="0" marL="0">
              <a:lnSpc>
                <a:spcPts val="3008"/>
              </a:lnSpc>
              <a:buNone/>
            </a:pPr>
            <a:r>
              <a:rPr lang="en-US" sz="1600" b="1" dirty="0">
                <a:solidFill>
                  <a:srgbClr val="FFFFFF"/>
                </a:solidFill>
                <a:latin typeface="Poppins" pitchFamily="34" charset="0"/>
                <a:ea typeface="Poppins" pitchFamily="34" charset="-122"/>
                <a:cs typeface="Poppins" pitchFamily="34" charset="-120"/>
              </a:rPr>
              <a:t>3</a:t>
            </a:r>
            <a:endParaRPr lang="en-US" sz="1600" dirty="0"/>
          </a:p>
        </p:txBody>
      </p:sp>
      <p:sp>
        <p:nvSpPr>
          <p:cNvPr id="22" name="Text 20"/>
          <p:cNvSpPr/>
          <p:nvPr/>
        </p:nvSpPr>
        <p:spPr>
          <a:xfrm>
            <a:off x="6438900" y="2329160"/>
            <a:ext cx="2210689" cy="581025"/>
          </a:xfrm>
          <a:prstGeom prst="rect">
            <a:avLst/>
          </a:prstGeom>
          <a:noFill/>
          <a:ln/>
        </p:spPr>
        <p:txBody>
          <a:bodyPr wrap="square" lIns="0" tIns="0" rIns="0" bIns="0" rtlCol="0" anchor="t">
            <a:normAutofit/>
          </a:bodyPr>
          <a:lstStyle/>
          <a:p>
            <a:pPr algn="l" indent="0" marL="0">
              <a:lnSpc>
                <a:spcPts val="2188"/>
              </a:lnSpc>
              <a:buNone/>
            </a:pPr>
            <a:r>
              <a:rPr lang="en-US" sz="1750" b="1" dirty="0">
                <a:solidFill>
                  <a:srgbClr val="5A252C"/>
                </a:solidFill>
                <a:latin typeface="Poppins" pitchFamily="34" charset="0"/>
                <a:ea typeface="Poppins" pitchFamily="34" charset="-122"/>
                <a:cs typeface="Poppins" pitchFamily="34" charset="-120"/>
              </a:rPr>
              <a:t>Averaged within group</a:t>
            </a:r>
            <a:endParaRPr lang="en-US" sz="1750" dirty="0"/>
          </a:p>
        </p:txBody>
      </p:sp>
      <p:sp>
        <p:nvSpPr>
          <p:cNvPr id="23" name="Text 21"/>
          <p:cNvSpPr/>
          <p:nvPr/>
        </p:nvSpPr>
        <p:spPr>
          <a:xfrm>
            <a:off x="6438900" y="2960985"/>
            <a:ext cx="2210689" cy="570111"/>
          </a:xfrm>
          <a:prstGeom prst="rect">
            <a:avLst/>
          </a:prstGeom>
          <a:noFill/>
          <a:ln/>
        </p:spPr>
        <p:txBody>
          <a:bodyPr wrap="square" lIns="0" tIns="0" rIns="0" bIns="0" rtlCol="0" anchor="t">
            <a:normAutofit/>
          </a:bodyPr>
          <a:lstStyle/>
          <a:p>
            <a:pPr algn="l" indent="0" marL="0">
              <a:lnSpc>
                <a:spcPts val="2145"/>
              </a:lnSpc>
              <a:buNone/>
            </a:pPr>
            <a:r>
              <a:rPr lang="en-US" sz="1650" dirty="0">
                <a:solidFill>
                  <a:srgbClr val="6B4A4D"/>
                </a:solidFill>
                <a:latin typeface="Inter" pitchFamily="34" charset="0"/>
                <a:ea typeface="Inter" pitchFamily="34" charset="-122"/>
                <a:cs typeface="Inter" pitchFamily="34" charset="-120"/>
              </a:rPr>
              <a:t>233 group-outcome rows</a:t>
            </a:r>
            <a:endParaRPr lang="en-US" sz="1650" dirty="0"/>
          </a:p>
        </p:txBody>
      </p:sp>
      <p:sp>
        <p:nvSpPr>
          <p:cNvPr id="24" name="Text 22"/>
          <p:cNvSpPr/>
          <p:nvPr/>
        </p:nvSpPr>
        <p:spPr>
          <a:xfrm>
            <a:off x="8724900" y="2417068"/>
            <a:ext cx="406400" cy="505420"/>
          </a:xfrm>
          <a:prstGeom prst="rect">
            <a:avLst/>
          </a:prstGeom>
          <a:noFill/>
          <a:ln/>
        </p:spPr>
        <p:txBody>
          <a:bodyPr wrap="square" lIns="0" tIns="0" rIns="0" bIns="0" rtlCol="0" anchor="t">
            <a:normAutofit/>
          </a:bodyPr>
          <a:lstStyle/>
          <a:p>
            <a:pPr algn="ctr" indent="0" marL="0">
              <a:lnSpc>
                <a:spcPts val="3780"/>
              </a:lnSpc>
              <a:buNone/>
            </a:pPr>
            <a:r>
              <a:rPr lang="en-US" sz="2700" b="1" dirty="0">
                <a:solidFill>
                  <a:srgbClr val="C97979"/>
                </a:solidFill>
                <a:latin typeface="Inter" pitchFamily="34" charset="0"/>
                <a:ea typeface="Inter" pitchFamily="34" charset="-122"/>
                <a:cs typeface="Inter" pitchFamily="34" charset="-120"/>
              </a:rPr>
              <a:t>→</a:t>
            </a:r>
            <a:endParaRPr lang="en-US" sz="2700" dirty="0"/>
          </a:p>
        </p:txBody>
      </p:sp>
      <p:sp>
        <p:nvSpPr>
          <p:cNvPr id="25" name="Shape 23"/>
          <p:cNvSpPr/>
          <p:nvPr/>
        </p:nvSpPr>
        <p:spPr>
          <a:xfrm>
            <a:off x="9131300" y="1681460"/>
            <a:ext cx="2425700" cy="1951236"/>
          </a:xfrm>
          <a:prstGeom prst="roundRect">
            <a:avLst>
              <a:gd name="adj" fmla="val 4556"/>
            </a:avLst>
          </a:prstGeom>
          <a:solidFill>
            <a:srgbClr val="FFFFFF"/>
          </a:solidFill>
          <a:ln/>
          <a:effectLst>
            <a:outerShdw sx="100000" sy="100000" kx="0" ky="0" algn="bl" rotWithShape="0" blurRad="101600" dist="25400" dir="5400000">
              <a:srgbClr val="5A252C">
                <a:alpha val="18000"/>
              </a:srgbClr>
            </a:outerShdw>
          </a:effectLst>
        </p:spPr>
      </p:sp>
      <p:sp>
        <p:nvSpPr>
          <p:cNvPr id="26" name="Shape 24"/>
          <p:cNvSpPr/>
          <p:nvPr/>
        </p:nvSpPr>
        <p:spPr>
          <a:xfrm>
            <a:off x="9131300" y="1681460"/>
            <a:ext cx="2425700" cy="1951236"/>
          </a:xfrm>
          <a:custGeom>
            <a:avLst/>
            <a:gdLst/>
            <a:ahLst/>
            <a:cxnLst/>
            <a:rect l="l" t="t" r="r" b="b"/>
            <a:pathLst>
              <a:path w="2425700" h="1951236">
                <a:moveTo>
                  <a:pt x="0" y="88900"/>
                </a:moveTo>
                <a:lnTo>
                  <a:pt x="0" y="88900"/>
                </a:lnTo>
                <a:arcTo hR="88900" wR="88900" stAng="10800000" swAng="5400000"/>
                <a:lnTo>
                  <a:pt x="2336800" y="0"/>
                </a:lnTo>
                <a:arcTo hR="88900" wR="88900" stAng="16200000" swAng="5400000"/>
                <a:lnTo>
                  <a:pt x="2425700" y="88900"/>
                </a:lnTo>
                <a:arcTo hR="25400" wR="88900" stAng="0" swAng="-5400000"/>
                <a:lnTo>
                  <a:pt x="88900" y="63500"/>
                </a:lnTo>
                <a:arcTo hR="25400" wR="88900" stAng="16200000" swAng="-5400000"/>
                <a:close/>
              </a:path>
            </a:pathLst>
          </a:custGeom>
          <a:solidFill>
            <a:srgbClr val="9E3F3F"/>
          </a:solidFill>
          <a:ln/>
        </p:spPr>
      </p:sp>
      <p:sp>
        <p:nvSpPr>
          <p:cNvPr id="27" name="Text 25"/>
          <p:cNvSpPr/>
          <p:nvPr/>
        </p:nvSpPr>
        <p:spPr>
          <a:xfrm>
            <a:off x="9271000" y="1871960"/>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9E3F3F"/>
          </a:solidFill>
          <a:ln/>
        </p:spPr>
        <p:txBody>
          <a:bodyPr wrap="square" lIns="0" tIns="0" rIns="0" bIns="0" rtlCol="0" anchor="t">
            <a:normAutofit/>
          </a:bodyPr>
          <a:lstStyle/>
          <a:p>
            <a:pPr algn="ctr" indent="0" marL="0">
              <a:lnSpc>
                <a:spcPts val="3008"/>
              </a:lnSpc>
              <a:buNone/>
            </a:pPr>
            <a:r>
              <a:rPr lang="en-US" sz="1600" b="1" dirty="0">
                <a:solidFill>
                  <a:srgbClr val="FFFFFF"/>
                </a:solidFill>
                <a:latin typeface="Poppins" pitchFamily="34" charset="0"/>
                <a:ea typeface="Poppins" pitchFamily="34" charset="-122"/>
                <a:cs typeface="Poppins" pitchFamily="34" charset="-120"/>
              </a:rPr>
              <a:t>4</a:t>
            </a:r>
            <a:endParaRPr lang="en-US" sz="1600" dirty="0"/>
          </a:p>
        </p:txBody>
      </p:sp>
      <p:sp>
        <p:nvSpPr>
          <p:cNvPr id="28" name="Text 26"/>
          <p:cNvSpPr/>
          <p:nvPr/>
        </p:nvSpPr>
        <p:spPr>
          <a:xfrm>
            <a:off x="9271000" y="2329160"/>
            <a:ext cx="2210689" cy="303213"/>
          </a:xfrm>
          <a:prstGeom prst="rect">
            <a:avLst/>
          </a:prstGeom>
          <a:noFill/>
          <a:ln/>
        </p:spPr>
        <p:txBody>
          <a:bodyPr wrap="square" lIns="0" tIns="0" rIns="0" bIns="0" rtlCol="0" anchor="t">
            <a:normAutofit/>
          </a:bodyPr>
          <a:lstStyle/>
          <a:p>
            <a:pPr algn="l" indent="0" marL="0">
              <a:lnSpc>
                <a:spcPts val="2188"/>
              </a:lnSpc>
              <a:buNone/>
            </a:pPr>
            <a:r>
              <a:rPr lang="en-US" sz="1750" b="1" dirty="0">
                <a:solidFill>
                  <a:srgbClr val="5A252C"/>
                </a:solidFill>
                <a:latin typeface="Poppins" pitchFamily="34" charset="0"/>
                <a:ea typeface="Poppins" pitchFamily="34" charset="-122"/>
                <a:cs typeface="Poppins" pitchFamily="34" charset="-120"/>
              </a:rPr>
              <a:t>Dropped 4 rows</a:t>
            </a:r>
            <a:endParaRPr lang="en-US" sz="1750" dirty="0"/>
          </a:p>
        </p:txBody>
      </p:sp>
      <p:sp>
        <p:nvSpPr>
          <p:cNvPr id="29" name="Text 27"/>
          <p:cNvSpPr/>
          <p:nvPr/>
        </p:nvSpPr>
        <p:spPr>
          <a:xfrm>
            <a:off x="9271000" y="2683173"/>
            <a:ext cx="2210689" cy="297755"/>
          </a:xfrm>
          <a:prstGeom prst="rect">
            <a:avLst/>
          </a:prstGeom>
          <a:noFill/>
          <a:ln/>
        </p:spPr>
        <p:txBody>
          <a:bodyPr wrap="square" lIns="0" tIns="0" rIns="0" bIns="0" rtlCol="0" anchor="t">
            <a:normAutofit/>
          </a:bodyPr>
          <a:lstStyle/>
          <a:p>
            <a:pPr algn="l" indent="0" marL="0">
              <a:lnSpc>
                <a:spcPts val="2145"/>
              </a:lnSpc>
              <a:buNone/>
            </a:pPr>
            <a:r>
              <a:rPr lang="en-US" sz="1650" dirty="0">
                <a:solidFill>
                  <a:srgbClr val="6B4A4D"/>
                </a:solidFill>
                <a:latin typeface="Inter" pitchFamily="34" charset="0"/>
                <a:ea typeface="Inter" pitchFamily="34" charset="-122"/>
                <a:cs typeface="Inter" pitchFamily="34" charset="-120"/>
              </a:rPr>
              <a:t>missing sex: 229 left</a:t>
            </a:r>
            <a:endParaRPr lang="en-US" sz="1650" dirty="0"/>
          </a:p>
        </p:txBody>
      </p:sp>
      <p:sp>
        <p:nvSpPr>
          <p:cNvPr id="30" name="Text 28"/>
          <p:cNvSpPr/>
          <p:nvPr/>
        </p:nvSpPr>
        <p:spPr>
          <a:xfrm>
            <a:off x="635000" y="3759696"/>
            <a:ext cx="11249660" cy="398760"/>
          </a:xfrm>
          <a:prstGeom prst="rect">
            <a:avLst/>
          </a:prstGeom>
          <a:noFill/>
          <a:ln/>
        </p:spPr>
        <p:txBody>
          <a:bodyPr wrap="square" lIns="0" tIns="0" rIns="0" bIns="0" rtlCol="0" anchor="t">
            <a:normAutofit/>
          </a:bodyPr>
          <a:lstStyle/>
          <a:p>
            <a:pPr algn="l" indent="0" marL="0">
              <a:lnSpc>
                <a:spcPts val="2940"/>
              </a:lnSpc>
              <a:buNone/>
            </a:pPr>
            <a:r>
              <a:rPr lang="en-US" sz="2100" b="1" dirty="0">
                <a:solidFill>
                  <a:srgbClr val="9E3F3F"/>
                </a:solidFill>
                <a:latin typeface="Poppins" pitchFamily="34" charset="0"/>
                <a:ea typeface="Poppins" pitchFamily="34" charset="-122"/>
                <a:cs typeface="Poppins" pitchFamily="34" charset="-120"/>
              </a:rPr>
              <a:t>What we checked</a:t>
            </a:r>
            <a:endParaRPr lang="en-US" sz="2100" dirty="0"/>
          </a:p>
        </p:txBody>
      </p:sp>
      <p:sp>
        <p:nvSpPr>
          <p:cNvPr id="31" name="Shape 29"/>
          <p:cNvSpPr/>
          <p:nvPr/>
        </p:nvSpPr>
        <p:spPr>
          <a:xfrm>
            <a:off x="635000" y="4260056"/>
            <a:ext cx="2616200" cy="1067991"/>
          </a:xfrm>
          <a:prstGeom prst="roundRect">
            <a:avLst>
              <a:gd name="adj" fmla="val 8324"/>
            </a:avLst>
          </a:prstGeom>
          <a:solidFill>
            <a:srgbClr val="5A252C"/>
          </a:solidFill>
          <a:ln/>
          <a:effectLst>
            <a:outerShdw sx="100000" sy="100000" kx="0" ky="0" algn="bl" rotWithShape="0" blurRad="101600" dist="25400" dir="5400000">
              <a:srgbClr val="5A252C">
                <a:alpha val="18000"/>
              </a:srgbClr>
            </a:outerShdw>
          </a:effectLst>
        </p:spPr>
      </p:sp>
      <p:sp>
        <p:nvSpPr>
          <p:cNvPr id="32" name="Text 30"/>
          <p:cNvSpPr/>
          <p:nvPr/>
        </p:nvSpPr>
        <p:spPr>
          <a:xfrm>
            <a:off x="825500" y="4412456"/>
            <a:ext cx="2302256"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0</a:t>
            </a:r>
            <a:endParaRPr lang="en-US" sz="3300" dirty="0"/>
          </a:p>
        </p:txBody>
      </p:sp>
      <p:sp>
        <p:nvSpPr>
          <p:cNvPr id="33" name="Text 31"/>
          <p:cNvSpPr/>
          <p:nvPr/>
        </p:nvSpPr>
        <p:spPr>
          <a:xfrm>
            <a:off x="825500" y="4911527"/>
            <a:ext cx="23022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duplicate rows</a:t>
            </a:r>
            <a:endParaRPr lang="en-US" sz="1600" dirty="0"/>
          </a:p>
        </p:txBody>
      </p:sp>
      <p:sp>
        <p:nvSpPr>
          <p:cNvPr id="34" name="Shape 32"/>
          <p:cNvSpPr/>
          <p:nvPr/>
        </p:nvSpPr>
        <p:spPr>
          <a:xfrm>
            <a:off x="3403600" y="4260056"/>
            <a:ext cx="2616200" cy="1067991"/>
          </a:xfrm>
          <a:prstGeom prst="roundRect">
            <a:avLst>
              <a:gd name="adj" fmla="val 8324"/>
            </a:avLst>
          </a:prstGeom>
          <a:solidFill>
            <a:srgbClr val="9E3F3F"/>
          </a:solidFill>
          <a:ln/>
          <a:effectLst>
            <a:outerShdw sx="100000" sy="100000" kx="0" ky="0" algn="bl" rotWithShape="0" blurRad="101600" dist="25400" dir="5400000">
              <a:srgbClr val="5A252C">
                <a:alpha val="18000"/>
              </a:srgbClr>
            </a:outerShdw>
          </a:effectLst>
        </p:spPr>
      </p:sp>
      <p:sp>
        <p:nvSpPr>
          <p:cNvPr id="35" name="Text 33"/>
          <p:cNvSpPr/>
          <p:nvPr/>
        </p:nvSpPr>
        <p:spPr>
          <a:xfrm>
            <a:off x="3594100" y="4412456"/>
            <a:ext cx="2302256"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0</a:t>
            </a:r>
            <a:endParaRPr lang="en-US" sz="3300" dirty="0"/>
          </a:p>
        </p:txBody>
      </p:sp>
      <p:sp>
        <p:nvSpPr>
          <p:cNvPr id="36" name="Text 34"/>
          <p:cNvSpPr/>
          <p:nvPr/>
        </p:nvSpPr>
        <p:spPr>
          <a:xfrm>
            <a:off x="3594100" y="4911527"/>
            <a:ext cx="23022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impossible values</a:t>
            </a:r>
            <a:endParaRPr lang="en-US" sz="1600" dirty="0"/>
          </a:p>
        </p:txBody>
      </p:sp>
      <p:sp>
        <p:nvSpPr>
          <p:cNvPr id="37" name="Shape 35"/>
          <p:cNvSpPr/>
          <p:nvPr/>
        </p:nvSpPr>
        <p:spPr>
          <a:xfrm>
            <a:off x="6172200" y="4260056"/>
            <a:ext cx="2616200" cy="1067991"/>
          </a:xfrm>
          <a:prstGeom prst="roundRect">
            <a:avLst>
              <a:gd name="adj" fmla="val 8324"/>
            </a:avLst>
          </a:prstGeom>
          <a:solidFill>
            <a:srgbClr val="5A252C"/>
          </a:solidFill>
          <a:ln/>
          <a:effectLst>
            <a:outerShdw sx="100000" sy="100000" kx="0" ky="0" algn="bl" rotWithShape="0" blurRad="101600" dist="25400" dir="5400000">
              <a:srgbClr val="5A252C">
                <a:alpha val="18000"/>
              </a:srgbClr>
            </a:outerShdw>
          </a:effectLst>
        </p:spPr>
      </p:sp>
      <p:sp>
        <p:nvSpPr>
          <p:cNvPr id="38" name="Text 36"/>
          <p:cNvSpPr/>
          <p:nvPr/>
        </p:nvSpPr>
        <p:spPr>
          <a:xfrm>
            <a:off x="6362700" y="4412456"/>
            <a:ext cx="2302256"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8</a:t>
            </a:r>
            <a:endParaRPr lang="en-US" sz="3300" dirty="0"/>
          </a:p>
        </p:txBody>
      </p:sp>
      <p:sp>
        <p:nvSpPr>
          <p:cNvPr id="39" name="Text 37"/>
          <p:cNvSpPr/>
          <p:nvPr/>
        </p:nvSpPr>
        <p:spPr>
          <a:xfrm>
            <a:off x="6362700" y="4911527"/>
            <a:ext cx="23022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rows missing % male</a:t>
            </a:r>
            <a:endParaRPr lang="en-US" sz="1600" dirty="0"/>
          </a:p>
        </p:txBody>
      </p:sp>
      <p:sp>
        <p:nvSpPr>
          <p:cNvPr id="40" name="Shape 38"/>
          <p:cNvSpPr/>
          <p:nvPr/>
        </p:nvSpPr>
        <p:spPr>
          <a:xfrm>
            <a:off x="8940800" y="4260056"/>
            <a:ext cx="2616200" cy="1067991"/>
          </a:xfrm>
          <a:prstGeom prst="roundRect">
            <a:avLst>
              <a:gd name="adj" fmla="val 8324"/>
            </a:avLst>
          </a:prstGeom>
          <a:solidFill>
            <a:srgbClr val="9E3F3F"/>
          </a:solidFill>
          <a:ln/>
          <a:effectLst>
            <a:outerShdw sx="100000" sy="100000" kx="0" ky="0" algn="bl" rotWithShape="0" blurRad="101600" dist="25400" dir="5400000">
              <a:srgbClr val="5A252C">
                <a:alpha val="18000"/>
              </a:srgbClr>
            </a:outerShdw>
          </a:effectLst>
        </p:spPr>
      </p:sp>
      <p:sp>
        <p:nvSpPr>
          <p:cNvPr id="41" name="Text 39"/>
          <p:cNvSpPr/>
          <p:nvPr/>
        </p:nvSpPr>
        <p:spPr>
          <a:xfrm>
            <a:off x="9131300" y="4412456"/>
            <a:ext cx="2302256"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FFFFF"/>
                </a:solidFill>
                <a:latin typeface="Poppins" pitchFamily="34" charset="0"/>
                <a:ea typeface="Poppins" pitchFamily="34" charset="-122"/>
                <a:cs typeface="Poppins" pitchFamily="34" charset="-120"/>
              </a:rPr>
              <a:t>5</a:t>
            </a:r>
            <a:endParaRPr lang="en-US" sz="3300" dirty="0"/>
          </a:p>
        </p:txBody>
      </p:sp>
      <p:sp>
        <p:nvSpPr>
          <p:cNvPr id="42" name="Text 40"/>
          <p:cNvSpPr/>
          <p:nvPr/>
        </p:nvSpPr>
        <p:spPr>
          <a:xfrm>
            <a:off x="9131300" y="4911527"/>
            <a:ext cx="230225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outliers flagged, kept</a:t>
            </a:r>
            <a:endParaRPr lang="en-US" sz="1600" dirty="0"/>
          </a:p>
        </p:txBody>
      </p:sp>
      <p:sp>
        <p:nvSpPr>
          <p:cNvPr id="43" name="Text 41"/>
          <p:cNvSpPr/>
          <p:nvPr/>
        </p:nvSpPr>
        <p:spPr>
          <a:xfrm>
            <a:off x="635000" y="5455047"/>
            <a:ext cx="10922000" cy="956270"/>
          </a:xfrm>
          <a:prstGeom prst="roundRect">
            <a:avLst>
              <a:gd name="adj" fmla="val 6640"/>
            </a:avLst>
          </a:prstGeom>
          <a:solidFill>
            <a:srgbClr val="5A252C"/>
          </a:solidFill>
          <a:ln/>
        </p:spPr>
        <p:txBody>
          <a:bodyPr wrap="square" lIns="286201" tIns="133801" rIns="0" bIns="108401" rtlCol="0" anchor="t">
            <a:normAutofit/>
          </a:bodyPr>
          <a:lstStyle/>
          <a:p>
            <a:pPr algn="l" indent="0" marL="0">
              <a:lnSpc>
                <a:spcPts val="2565"/>
              </a:lnSpc>
              <a:buNone/>
            </a:pPr>
            <a:r>
              <a:rPr lang="en-US" sz="1900" dirty="0">
                <a:solidFill>
                  <a:srgbClr val="FFFFFF"/>
                </a:solidFill>
                <a:latin typeface="Inter" pitchFamily="34" charset="0"/>
                <a:ea typeface="Inter" pitchFamily="34" charset="-122"/>
                <a:cs typeface="Inter" pitchFamily="34" charset="-120"/>
              </a:rPr>
              <a:t>Sanity check: control groups changed little (−0.3%, −2.7%); training groups improved (+7.0%, +15.8%).</a:t>
            </a:r>
            <a:endParaRPr lang="en-US" sz="1900" dirty="0"/>
          </a:p>
        </p:txBody>
      </p:sp>
      <p:sp>
        <p:nvSpPr>
          <p:cNvPr id="44" name="Shape 42"/>
          <p:cNvSpPr/>
          <p:nvPr/>
        </p:nvSpPr>
        <p:spPr>
          <a:xfrm>
            <a:off x="635000" y="5455047"/>
            <a:ext cx="10922000" cy="956270"/>
          </a:xfrm>
          <a:custGeom>
            <a:avLst/>
            <a:gdLst/>
            <a:ahLst/>
            <a:cxnLst/>
            <a:rect l="l" t="t" r="r" b="b"/>
            <a:pathLst>
              <a:path w="10922000" h="956270">
                <a:moveTo>
                  <a:pt x="76200" y="956270"/>
                </a:moveTo>
                <a:lnTo>
                  <a:pt x="63500" y="956270"/>
                </a:lnTo>
                <a:arcTo hR="63500" wR="63500" stAng="5400000" swAng="5400000"/>
                <a:lnTo>
                  <a:pt x="0" y="63500"/>
                </a:lnTo>
                <a:arcTo hR="63500" wR="63500" stAng="10800000" swAng="5400000"/>
                <a:lnTo>
                  <a:pt x="76200" y="0"/>
                </a:lnTo>
                <a:lnTo>
                  <a:pt x="76200" y="956270"/>
                </a:lnTo>
                <a:close/>
              </a:path>
            </a:pathLst>
          </a:custGeom>
          <a:solidFill>
            <a:srgbClr val="C97979"/>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Modeling: Why These Models</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8</a:t>
            </a:r>
            <a:endParaRPr lang="en-US" sz="2000" dirty="0"/>
          </a:p>
        </p:txBody>
      </p:sp>
      <p:sp>
        <p:nvSpPr>
          <p:cNvPr id="6" name="Shape 4"/>
          <p:cNvSpPr/>
          <p:nvPr/>
        </p:nvSpPr>
        <p:spPr>
          <a:xfrm>
            <a:off x="635000" y="1181100"/>
            <a:ext cx="3369667" cy="2204541"/>
          </a:xfrm>
          <a:prstGeom prst="roundRect">
            <a:avLst>
              <a:gd name="adj" fmla="val 4033"/>
            </a:avLst>
          </a:prstGeom>
          <a:solidFill>
            <a:srgbClr val="FFFFFF"/>
          </a:solidFill>
          <a:ln/>
          <a:effectLst>
            <a:outerShdw sx="100000" sy="100000" kx="0" ky="0" algn="bl" rotWithShape="0" blurRad="101600" dist="25400" dir="5400000">
              <a:srgbClr val="5A252C">
                <a:alpha val="18000"/>
              </a:srgbClr>
            </a:outerShdw>
          </a:effectLst>
        </p:spPr>
      </p:sp>
      <p:sp>
        <p:nvSpPr>
          <p:cNvPr id="7" name="Text 5"/>
          <p:cNvSpPr/>
          <p:nvPr/>
        </p:nvSpPr>
        <p:spPr>
          <a:xfrm>
            <a:off x="635000" y="1181100"/>
            <a:ext cx="3369667" cy="665460"/>
          </a:xfrm>
          <a:custGeom>
            <a:avLst/>
            <a:gdLst/>
            <a:ahLst/>
            <a:cxnLst/>
            <a:rect l="l" t="t" r="r" b="b"/>
            <a:pathLst>
              <a:path w="3369667" h="665460">
                <a:moveTo>
                  <a:pt x="0" y="88900"/>
                </a:moveTo>
                <a:arcTo hR="88900" wR="88900" stAng="10800000" swAng="5400000"/>
                <a:lnTo>
                  <a:pt x="3280767" y="0"/>
                </a:lnTo>
                <a:arcTo hR="88900" wR="88900" stAng="16200000" swAng="5400000"/>
                <a:lnTo>
                  <a:pt x="3369667" y="665460"/>
                </a:lnTo>
                <a:lnTo>
                  <a:pt x="0" y="665460"/>
                </a:lnTo>
                <a:close/>
              </a:path>
            </a:pathLst>
          </a:custGeom>
          <a:solidFill>
            <a:srgbClr val="5A252C"/>
          </a:solidFill>
          <a:ln/>
        </p:spPr>
        <p:txBody>
          <a:bodyPr wrap="square" lIns="165100" tIns="101600" rIns="73916" bIns="76200" rtlCol="0" anchor="t">
            <a:normAutofit/>
          </a:bodyPr>
          <a:lstStyle/>
          <a:p>
            <a:pPr algn="l" indent="0" marL="0">
              <a:lnSpc>
                <a:spcPts val="3640"/>
              </a:lnSpc>
              <a:buNone/>
            </a:pPr>
            <a:r>
              <a:rPr lang="en-US" sz="2600" b="1" dirty="0">
                <a:solidFill>
                  <a:srgbClr val="FFFFFF"/>
                </a:solidFill>
                <a:latin typeface="Poppins" pitchFamily="34" charset="0"/>
                <a:ea typeface="Poppins" pitchFamily="34" charset="-122"/>
                <a:cs typeface="Poppins" pitchFamily="34" charset="-120"/>
              </a:rPr>
              <a:t>Model 1</a:t>
            </a:r>
            <a:endParaRPr lang="en-US" sz="2600" dirty="0"/>
          </a:p>
        </p:txBody>
      </p:sp>
      <p:sp>
        <p:nvSpPr>
          <p:cNvPr id="8" name="Text 6"/>
          <p:cNvSpPr/>
          <p:nvPr/>
        </p:nvSpPr>
        <p:spPr>
          <a:xfrm>
            <a:off x="800100" y="1973560"/>
            <a:ext cx="3130651" cy="33903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5A252C"/>
                </a:solidFill>
                <a:latin typeface="Inter" pitchFamily="34" charset="0"/>
                <a:ea typeface="Inter" pitchFamily="34" charset="-122"/>
                <a:cs typeface="Inter" pitchFamily="34" charset="-120"/>
              </a:rPr>
              <a:t>Frequency + covariates</a:t>
            </a:r>
            <a:endParaRPr lang="en-US" sz="1900" dirty="0"/>
          </a:p>
        </p:txBody>
      </p:sp>
      <p:sp>
        <p:nvSpPr>
          <p:cNvPr id="9" name="Text 7"/>
          <p:cNvSpPr/>
          <p:nvPr/>
        </p:nvSpPr>
        <p:spPr>
          <a:xfrm>
            <a:off x="800100" y="2350691"/>
            <a:ext cx="3130651"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6B4A4D"/>
                </a:solidFill>
                <a:latin typeface="Inter" pitchFamily="34" charset="0"/>
                <a:ea typeface="Inter" pitchFamily="34" charset="-122"/>
                <a:cs typeface="Inter" pitchFamily="34" charset="-120"/>
              </a:rPr>
              <a:t>Frequency on its own</a:t>
            </a:r>
            <a:endParaRPr lang="en-US" sz="1800" dirty="0"/>
          </a:p>
        </p:txBody>
      </p:sp>
      <p:sp>
        <p:nvSpPr>
          <p:cNvPr id="10" name="Text 8"/>
          <p:cNvSpPr/>
          <p:nvPr/>
        </p:nvSpPr>
        <p:spPr>
          <a:xfrm>
            <a:off x="4004667" y="2043311"/>
            <a:ext cx="406400" cy="505420"/>
          </a:xfrm>
          <a:prstGeom prst="rect">
            <a:avLst/>
          </a:prstGeom>
          <a:noFill/>
          <a:ln/>
        </p:spPr>
        <p:txBody>
          <a:bodyPr wrap="square" lIns="0" tIns="0" rIns="0" bIns="0" rtlCol="0" anchor="t">
            <a:normAutofit/>
          </a:bodyPr>
          <a:lstStyle/>
          <a:p>
            <a:pPr algn="ctr" indent="0" marL="0">
              <a:lnSpc>
                <a:spcPts val="3780"/>
              </a:lnSpc>
              <a:buNone/>
            </a:pPr>
            <a:r>
              <a:rPr lang="en-US" sz="2700" b="1" dirty="0">
                <a:solidFill>
                  <a:srgbClr val="C97979"/>
                </a:solidFill>
                <a:latin typeface="Inter" pitchFamily="34" charset="0"/>
                <a:ea typeface="Inter" pitchFamily="34" charset="-122"/>
                <a:cs typeface="Inter" pitchFamily="34" charset="-120"/>
              </a:rPr>
              <a:t>→</a:t>
            </a:r>
            <a:endParaRPr lang="en-US" sz="2700" dirty="0"/>
          </a:p>
        </p:txBody>
      </p:sp>
      <p:sp>
        <p:nvSpPr>
          <p:cNvPr id="11" name="Shape 9"/>
          <p:cNvSpPr/>
          <p:nvPr/>
        </p:nvSpPr>
        <p:spPr>
          <a:xfrm>
            <a:off x="4411067" y="1181100"/>
            <a:ext cx="3369766" cy="2204541"/>
          </a:xfrm>
          <a:prstGeom prst="roundRect">
            <a:avLst>
              <a:gd name="adj" fmla="val 4033"/>
            </a:avLst>
          </a:prstGeom>
          <a:solidFill>
            <a:srgbClr val="FFFFFF"/>
          </a:solidFill>
          <a:ln/>
          <a:effectLst>
            <a:outerShdw sx="100000" sy="100000" kx="0" ky="0" algn="bl" rotWithShape="0" blurRad="101600" dist="25400" dir="5400000">
              <a:srgbClr val="5A252C">
                <a:alpha val="18000"/>
              </a:srgbClr>
            </a:outerShdw>
          </a:effectLst>
        </p:spPr>
      </p:sp>
      <p:sp>
        <p:nvSpPr>
          <p:cNvPr id="12" name="Text 10"/>
          <p:cNvSpPr/>
          <p:nvPr/>
        </p:nvSpPr>
        <p:spPr>
          <a:xfrm>
            <a:off x="4411067" y="1181100"/>
            <a:ext cx="3369766" cy="665460"/>
          </a:xfrm>
          <a:custGeom>
            <a:avLst/>
            <a:gdLst/>
            <a:ahLst/>
            <a:cxnLst/>
            <a:rect l="l" t="t" r="r" b="b"/>
            <a:pathLst>
              <a:path w="3369766" h="665460">
                <a:moveTo>
                  <a:pt x="0" y="88900"/>
                </a:moveTo>
                <a:arcTo hR="88900" wR="88900" stAng="10800000" swAng="5400000"/>
                <a:lnTo>
                  <a:pt x="3280866" y="0"/>
                </a:lnTo>
                <a:arcTo hR="88900" wR="88900" stAng="16200000" swAng="5400000"/>
                <a:lnTo>
                  <a:pt x="3369766" y="665460"/>
                </a:lnTo>
                <a:lnTo>
                  <a:pt x="0" y="665460"/>
                </a:lnTo>
                <a:close/>
              </a:path>
            </a:pathLst>
          </a:custGeom>
          <a:solidFill>
            <a:srgbClr val="9E3F3F"/>
          </a:solidFill>
          <a:ln/>
        </p:spPr>
        <p:txBody>
          <a:bodyPr wrap="square" lIns="165100" tIns="101600" rIns="73913" bIns="76200" rtlCol="0" anchor="t">
            <a:normAutofit/>
          </a:bodyPr>
          <a:lstStyle/>
          <a:p>
            <a:pPr algn="l" indent="0" marL="0">
              <a:lnSpc>
                <a:spcPts val="3640"/>
              </a:lnSpc>
              <a:buNone/>
            </a:pPr>
            <a:r>
              <a:rPr lang="en-US" sz="2600" b="1" dirty="0">
                <a:solidFill>
                  <a:srgbClr val="FFFFFF"/>
                </a:solidFill>
                <a:latin typeface="Poppins" pitchFamily="34" charset="0"/>
                <a:ea typeface="Poppins" pitchFamily="34" charset="-122"/>
                <a:cs typeface="Poppins" pitchFamily="34" charset="-120"/>
              </a:rPr>
              <a:t>Model 2</a:t>
            </a:r>
            <a:endParaRPr lang="en-US" sz="2600" dirty="0"/>
          </a:p>
        </p:txBody>
      </p:sp>
      <p:sp>
        <p:nvSpPr>
          <p:cNvPr id="13" name="Text 11"/>
          <p:cNvSpPr/>
          <p:nvPr/>
        </p:nvSpPr>
        <p:spPr>
          <a:xfrm>
            <a:off x="4576167" y="1973560"/>
            <a:ext cx="3130753" cy="33903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5A252C"/>
                </a:solidFill>
                <a:latin typeface="Inter" pitchFamily="34" charset="0"/>
                <a:ea typeface="Inter" pitchFamily="34" charset="-122"/>
                <a:cs typeface="Inter" pitchFamily="34" charset="-120"/>
              </a:rPr>
              <a:t>Model 1 + weekly sets</a:t>
            </a:r>
            <a:endParaRPr lang="en-US" sz="1900" dirty="0"/>
          </a:p>
        </p:txBody>
      </p:sp>
      <p:sp>
        <p:nvSpPr>
          <p:cNvPr id="14" name="Text 12"/>
          <p:cNvSpPr/>
          <p:nvPr/>
        </p:nvSpPr>
        <p:spPr>
          <a:xfrm>
            <a:off x="4576167" y="2350691"/>
            <a:ext cx="313075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6B4A4D"/>
                </a:solidFill>
                <a:latin typeface="Inter" pitchFamily="34" charset="0"/>
                <a:ea typeface="Inter" pitchFamily="34" charset="-122"/>
                <a:cs typeface="Inter" pitchFamily="34" charset="-120"/>
              </a:rPr>
              <a:t>Frequency after volume (RQ1 to RQ3)</a:t>
            </a:r>
            <a:endParaRPr lang="en-US" sz="1800" dirty="0"/>
          </a:p>
        </p:txBody>
      </p:sp>
      <p:sp>
        <p:nvSpPr>
          <p:cNvPr id="15" name="Text 13"/>
          <p:cNvSpPr/>
          <p:nvPr/>
        </p:nvSpPr>
        <p:spPr>
          <a:xfrm>
            <a:off x="7780834" y="2043311"/>
            <a:ext cx="406400" cy="505420"/>
          </a:xfrm>
          <a:prstGeom prst="rect">
            <a:avLst/>
          </a:prstGeom>
          <a:noFill/>
          <a:ln/>
        </p:spPr>
        <p:txBody>
          <a:bodyPr wrap="square" lIns="0" tIns="0" rIns="0" bIns="0" rtlCol="0" anchor="t">
            <a:normAutofit/>
          </a:bodyPr>
          <a:lstStyle/>
          <a:p>
            <a:pPr algn="ctr" indent="0" marL="0">
              <a:lnSpc>
                <a:spcPts val="3780"/>
              </a:lnSpc>
              <a:buNone/>
            </a:pPr>
            <a:r>
              <a:rPr lang="en-US" sz="2700" b="1" dirty="0">
                <a:solidFill>
                  <a:srgbClr val="C97979"/>
                </a:solidFill>
                <a:latin typeface="Inter" pitchFamily="34" charset="0"/>
                <a:ea typeface="Inter" pitchFamily="34" charset="-122"/>
                <a:cs typeface="Inter" pitchFamily="34" charset="-120"/>
              </a:rPr>
              <a:t>→</a:t>
            </a:r>
            <a:endParaRPr lang="en-US" sz="2700" dirty="0"/>
          </a:p>
        </p:txBody>
      </p:sp>
      <p:sp>
        <p:nvSpPr>
          <p:cNvPr id="16" name="Shape 14"/>
          <p:cNvSpPr/>
          <p:nvPr/>
        </p:nvSpPr>
        <p:spPr>
          <a:xfrm>
            <a:off x="8187234" y="1181100"/>
            <a:ext cx="3369766" cy="2204541"/>
          </a:xfrm>
          <a:prstGeom prst="roundRect">
            <a:avLst>
              <a:gd name="adj" fmla="val 4033"/>
            </a:avLst>
          </a:prstGeom>
          <a:solidFill>
            <a:srgbClr val="FFFFFF"/>
          </a:solidFill>
          <a:ln/>
          <a:effectLst>
            <a:outerShdw sx="100000" sy="100000" kx="0" ky="0" algn="bl" rotWithShape="0" blurRad="101600" dist="25400" dir="5400000">
              <a:srgbClr val="5A252C">
                <a:alpha val="18000"/>
              </a:srgbClr>
            </a:outerShdw>
          </a:effectLst>
        </p:spPr>
      </p:sp>
      <p:sp>
        <p:nvSpPr>
          <p:cNvPr id="17" name="Text 15"/>
          <p:cNvSpPr/>
          <p:nvPr/>
        </p:nvSpPr>
        <p:spPr>
          <a:xfrm>
            <a:off x="8187234" y="1181100"/>
            <a:ext cx="3369766" cy="665460"/>
          </a:xfrm>
          <a:custGeom>
            <a:avLst/>
            <a:gdLst/>
            <a:ahLst/>
            <a:cxnLst/>
            <a:rect l="l" t="t" r="r" b="b"/>
            <a:pathLst>
              <a:path w="3369766" h="665460">
                <a:moveTo>
                  <a:pt x="0" y="88900"/>
                </a:moveTo>
                <a:arcTo hR="88900" wR="88900" stAng="10800000" swAng="5400000"/>
                <a:lnTo>
                  <a:pt x="3280866" y="0"/>
                </a:lnTo>
                <a:arcTo hR="88900" wR="88900" stAng="16200000" swAng="5400000"/>
                <a:lnTo>
                  <a:pt x="3369766" y="665460"/>
                </a:lnTo>
                <a:lnTo>
                  <a:pt x="0" y="665460"/>
                </a:lnTo>
                <a:close/>
              </a:path>
            </a:pathLst>
          </a:custGeom>
          <a:solidFill>
            <a:srgbClr val="7A2F36"/>
          </a:solidFill>
          <a:ln/>
        </p:spPr>
        <p:txBody>
          <a:bodyPr wrap="square" lIns="165100" tIns="101600" rIns="73913" bIns="76200" rtlCol="0" anchor="t">
            <a:normAutofit/>
          </a:bodyPr>
          <a:lstStyle/>
          <a:p>
            <a:pPr algn="l" indent="0" marL="0">
              <a:lnSpc>
                <a:spcPts val="3640"/>
              </a:lnSpc>
              <a:buNone/>
            </a:pPr>
            <a:r>
              <a:rPr lang="en-US" sz="2600" b="1" dirty="0">
                <a:solidFill>
                  <a:srgbClr val="FFFFFF"/>
                </a:solidFill>
                <a:latin typeface="Poppins" pitchFamily="34" charset="0"/>
                <a:ea typeface="Poppins" pitchFamily="34" charset="-122"/>
                <a:cs typeface="Poppins" pitchFamily="34" charset="-120"/>
              </a:rPr>
              <a:t>Model 3</a:t>
            </a:r>
            <a:endParaRPr lang="en-US" sz="2600" dirty="0"/>
          </a:p>
        </p:txBody>
      </p:sp>
      <p:sp>
        <p:nvSpPr>
          <p:cNvPr id="18" name="Text 16"/>
          <p:cNvSpPr/>
          <p:nvPr/>
        </p:nvSpPr>
        <p:spPr>
          <a:xfrm>
            <a:off x="8352334" y="1973560"/>
            <a:ext cx="3130753" cy="652661"/>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5A252C"/>
                </a:solidFill>
                <a:latin typeface="Inter" pitchFamily="34" charset="0"/>
                <a:ea typeface="Inter" pitchFamily="34" charset="-122"/>
                <a:cs typeface="Inter" pitchFamily="34" charset="-120"/>
              </a:rPr>
              <a:t>Model 2 + frequency × sets</a:t>
            </a:r>
            <a:endParaRPr lang="en-US" sz="1900" dirty="0"/>
          </a:p>
        </p:txBody>
      </p:sp>
      <p:sp>
        <p:nvSpPr>
          <p:cNvPr id="19" name="Text 17"/>
          <p:cNvSpPr/>
          <p:nvPr/>
        </p:nvSpPr>
        <p:spPr>
          <a:xfrm>
            <a:off x="8352334" y="2664321"/>
            <a:ext cx="313075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6B4A4D"/>
                </a:solidFill>
                <a:latin typeface="Inter" pitchFamily="34" charset="0"/>
                <a:ea typeface="Inter" pitchFamily="34" charset="-122"/>
                <a:cs typeface="Inter" pitchFamily="34" charset="-120"/>
              </a:rPr>
              <a:t>Does frequency depend on volume? (RQ4)</a:t>
            </a:r>
            <a:endParaRPr lang="en-US" sz="1800" dirty="0"/>
          </a:p>
        </p:txBody>
      </p:sp>
      <p:sp>
        <p:nvSpPr>
          <p:cNvPr id="20" name="Shape 18"/>
          <p:cNvSpPr/>
          <p:nvPr/>
        </p:nvSpPr>
        <p:spPr>
          <a:xfrm>
            <a:off x="635000" y="3639641"/>
            <a:ext cx="127000" cy="127000"/>
          </a:xfrm>
          <a:prstGeom prst="roundRect">
            <a:avLst>
              <a:gd name="adj" fmla="val 20000"/>
            </a:avLst>
          </a:prstGeom>
          <a:solidFill>
            <a:srgbClr val="9E3F3F"/>
          </a:solidFill>
          <a:ln/>
        </p:spPr>
      </p:sp>
      <p:sp>
        <p:nvSpPr>
          <p:cNvPr id="21" name="Text 19"/>
          <p:cNvSpPr/>
          <p:nvPr/>
        </p:nvSpPr>
        <p:spPr>
          <a:xfrm>
            <a:off x="914400" y="3639641"/>
            <a:ext cx="10961878" cy="813991"/>
          </a:xfrm>
          <a:prstGeom prst="rect">
            <a:avLst/>
          </a:prstGeom>
          <a:noFill/>
          <a:ln/>
        </p:spPr>
        <p:txBody>
          <a:bodyPr wrap="square" lIns="0" tIns="0" rIns="0" bIns="0" rtlCol="0" anchor="t">
            <a:normAutofit/>
          </a:bodyPr>
          <a:lstStyle/>
          <a:p>
            <a:pPr algn="l" indent="0" marL="0">
              <a:lnSpc>
                <a:spcPts val="3105"/>
              </a:lnSpc>
              <a:buNone/>
            </a:pPr>
            <a:r>
              <a:rPr lang="en-US" sz="2300" b="1" dirty="0">
                <a:solidFill>
                  <a:srgbClr val="2B1417"/>
                </a:solidFill>
                <a:latin typeface="Inter" pitchFamily="34" charset="0"/>
                <a:ea typeface="Inter" pitchFamily="34" charset="-122"/>
                <a:cs typeface="Inter" pitchFamily="34" charset="-120"/>
              </a:rPr>
              <a:t>Weighted</a:t>
            </a:r>
            <a:r>
              <a:rPr lang="en-US" sz="2300" dirty="0">
                <a:solidFill>
                  <a:srgbClr val="2B1417"/>
                </a:solidFill>
                <a:latin typeface="Inter" pitchFamily="34" charset="0"/>
                <a:ea typeface="Inter" pitchFamily="34" charset="-122"/>
                <a:cs typeface="Inter" pitchFamily="34" charset="-120"/>
              </a:rPr>
              <a:t> by group size; </a:t>
            </a:r>
            <a:r>
              <a:rPr lang="en-US" sz="2300" b="1" dirty="0">
                <a:solidFill>
                  <a:srgbClr val="2B1417"/>
                </a:solidFill>
                <a:latin typeface="Inter" pitchFamily="34" charset="0"/>
                <a:ea typeface="Inter" pitchFamily="34" charset="-122"/>
                <a:cs typeface="Inter" pitchFamily="34" charset="-120"/>
              </a:rPr>
              <a:t>standard errors clustered by study</a:t>
            </a:r>
            <a:r>
              <a:rPr lang="en-US" sz="2300" dirty="0">
                <a:solidFill>
                  <a:srgbClr val="2B1417"/>
                </a:solidFill>
                <a:latin typeface="Inter" pitchFamily="34" charset="0"/>
                <a:ea typeface="Inter" pitchFamily="34" charset="-122"/>
                <a:cs typeface="Inter" pitchFamily="34" charset="-120"/>
              </a:rPr>
              <a:t>, because groups in one study share a lab and population.</a:t>
            </a:r>
            <a:endParaRPr lang="en-US" sz="2300" dirty="0"/>
          </a:p>
        </p:txBody>
      </p:sp>
      <p:sp>
        <p:nvSpPr>
          <p:cNvPr id="22" name="Shape 20"/>
          <p:cNvSpPr/>
          <p:nvPr/>
        </p:nvSpPr>
        <p:spPr>
          <a:xfrm>
            <a:off x="635000" y="4656832"/>
            <a:ext cx="127000" cy="127000"/>
          </a:xfrm>
          <a:prstGeom prst="roundRect">
            <a:avLst>
              <a:gd name="adj" fmla="val 20000"/>
            </a:avLst>
          </a:prstGeom>
          <a:solidFill>
            <a:srgbClr val="9E3F3F"/>
          </a:solidFill>
          <a:ln/>
        </p:spPr>
      </p:sp>
      <p:sp>
        <p:nvSpPr>
          <p:cNvPr id="23" name="Text 21"/>
          <p:cNvSpPr/>
          <p:nvPr/>
        </p:nvSpPr>
        <p:spPr>
          <a:xfrm>
            <a:off x="914400" y="4656832"/>
            <a:ext cx="10961878" cy="813991"/>
          </a:xfrm>
          <a:prstGeom prst="rect">
            <a:avLst/>
          </a:prstGeom>
          <a:noFill/>
          <a:ln/>
        </p:spPr>
        <p:txBody>
          <a:bodyPr wrap="square" lIns="0" tIns="0" rIns="0" bIns="0" rtlCol="0" anchor="t">
            <a:normAutofit/>
          </a:bodyPr>
          <a:lstStyle/>
          <a:p>
            <a:pPr algn="l" indent="0" marL="0">
              <a:lnSpc>
                <a:spcPts val="3105"/>
              </a:lnSpc>
              <a:buNone/>
            </a:pPr>
            <a:r>
              <a:rPr lang="en-US" sz="2300" dirty="0">
                <a:solidFill>
                  <a:srgbClr val="2B1417"/>
                </a:solidFill>
                <a:latin typeface="Inter" pitchFamily="34" charset="0"/>
                <a:ea typeface="Inter" pitchFamily="34" charset="-122"/>
                <a:cs typeface="Inter" pitchFamily="34" charset="-120"/>
              </a:rPr>
              <a:t>ANOVA and ANCOVA are cross-checks. A mixed model is a robustness check.</a:t>
            </a:r>
            <a:endParaRPr lang="en-US" sz="2300" dirty="0"/>
          </a:p>
        </p:txBody>
      </p:sp>
      <p:sp>
        <p:nvSpPr>
          <p:cNvPr id="24" name="Shape 22"/>
          <p:cNvSpPr/>
          <p:nvPr/>
        </p:nvSpPr>
        <p:spPr>
          <a:xfrm>
            <a:off x="635000" y="5674023"/>
            <a:ext cx="127000" cy="127000"/>
          </a:xfrm>
          <a:prstGeom prst="roundRect">
            <a:avLst>
              <a:gd name="adj" fmla="val 20000"/>
            </a:avLst>
          </a:prstGeom>
          <a:solidFill>
            <a:srgbClr val="9E3F3F"/>
          </a:solidFill>
          <a:ln/>
        </p:spPr>
      </p:sp>
      <p:sp>
        <p:nvSpPr>
          <p:cNvPr id="25" name="Text 23"/>
          <p:cNvSpPr/>
          <p:nvPr/>
        </p:nvSpPr>
        <p:spPr>
          <a:xfrm>
            <a:off x="914400" y="5674023"/>
            <a:ext cx="11277600" cy="419695"/>
          </a:xfrm>
          <a:prstGeom prst="rect">
            <a:avLst/>
          </a:prstGeom>
          <a:noFill/>
          <a:ln/>
        </p:spPr>
        <p:txBody>
          <a:bodyPr wrap="square" lIns="0" tIns="0" rIns="0" bIns="0" rtlCol="0" anchor="t">
            <a:normAutofit/>
          </a:bodyPr>
          <a:lstStyle/>
          <a:p>
            <a:pPr algn="l" indent="0" marL="0">
              <a:lnSpc>
                <a:spcPts val="3105"/>
              </a:lnSpc>
              <a:buNone/>
            </a:pPr>
            <a:r>
              <a:rPr lang="en-US" sz="2300" dirty="0">
                <a:solidFill>
                  <a:srgbClr val="2B1417"/>
                </a:solidFill>
                <a:latin typeface="Inter" pitchFamily="34" charset="0"/>
                <a:ea typeface="Inter" pitchFamily="34" charset="-122"/>
                <a:cs typeface="Inter" pitchFamily="34" charset="-120"/>
              </a:rPr>
              <a:t>Validation holds out </a:t>
            </a:r>
            <a:r>
              <a:rPr lang="en-US" sz="2300" b="1" dirty="0">
                <a:solidFill>
                  <a:srgbClr val="2B1417"/>
                </a:solidFill>
                <a:latin typeface="Inter" pitchFamily="34" charset="0"/>
                <a:ea typeface="Inter" pitchFamily="34" charset="-122"/>
                <a:cs typeface="Inter" pitchFamily="34" charset="-120"/>
              </a:rPr>
              <a:t>whole studies</a:t>
            </a:r>
            <a:r>
              <a:rPr lang="en-US" sz="2300" dirty="0">
                <a:solidFill>
                  <a:srgbClr val="2B1417"/>
                </a:solidFill>
                <a:latin typeface="Inter" pitchFamily="34" charset="0"/>
                <a:ea typeface="Inter" pitchFamily="34" charset="-122"/>
                <a:cs typeface="Inter" pitchFamily="34" charset="-120"/>
              </a:rPr>
              <a:t>. Bootstrap resamples whole studies.</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Results: Muscle Growth</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9</a:t>
            </a:r>
            <a:endParaRPr lang="en-US" sz="2000" dirty="0"/>
          </a:p>
        </p:txBody>
      </p:sp>
      <p:sp>
        <p:nvSpPr>
          <p:cNvPr id="6" name="Shape 4"/>
          <p:cNvSpPr/>
          <p:nvPr/>
        </p:nvSpPr>
        <p:spPr>
          <a:xfrm>
            <a:off x="635000" y="1824534"/>
            <a:ext cx="3365500" cy="1346101"/>
          </a:xfrm>
          <a:prstGeom prst="roundRect">
            <a:avLst>
              <a:gd name="adj" fmla="val 6604"/>
            </a:avLst>
          </a:prstGeom>
          <a:solidFill>
            <a:srgbClr val="5A252C"/>
          </a:solidFill>
          <a:ln/>
          <a:effectLst>
            <a:outerShdw sx="100000" sy="100000" kx="0" ky="0" algn="bl" rotWithShape="0" blurRad="101600" dist="25400" dir="5400000">
              <a:srgbClr val="5A252C">
                <a:alpha val="18000"/>
              </a:srgbClr>
            </a:outerShdw>
          </a:effectLst>
        </p:spPr>
      </p:sp>
      <p:sp>
        <p:nvSpPr>
          <p:cNvPr id="7" name="Text 5"/>
          <p:cNvSpPr/>
          <p:nvPr/>
        </p:nvSpPr>
        <p:spPr>
          <a:xfrm>
            <a:off x="825500" y="1976934"/>
            <a:ext cx="3074035"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FFFFF"/>
                </a:solidFill>
                <a:latin typeface="Poppins" pitchFamily="34" charset="0"/>
                <a:ea typeface="Poppins" pitchFamily="34" charset="-122"/>
                <a:cs typeface="Poppins" pitchFamily="34" charset="-120"/>
              </a:rPr>
              <a:t>+2.39 pts</a:t>
            </a:r>
            <a:endParaRPr lang="en-US" sz="3400" dirty="0"/>
          </a:p>
        </p:txBody>
      </p:sp>
      <p:sp>
        <p:nvSpPr>
          <p:cNvPr id="8" name="Text 6"/>
          <p:cNvSpPr/>
          <p:nvPr/>
        </p:nvSpPr>
        <p:spPr>
          <a:xfrm>
            <a:off x="825500" y="2489994"/>
            <a:ext cx="307403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per 10 extra weekly sets, 95% CI [1.11, 3.68], p = .001</a:t>
            </a:r>
            <a:endParaRPr lang="en-US" sz="1600" dirty="0"/>
          </a:p>
        </p:txBody>
      </p:sp>
      <p:sp>
        <p:nvSpPr>
          <p:cNvPr id="9" name="Shape 7"/>
          <p:cNvSpPr/>
          <p:nvPr/>
        </p:nvSpPr>
        <p:spPr>
          <a:xfrm>
            <a:off x="635000" y="3323034"/>
            <a:ext cx="3365500" cy="1346101"/>
          </a:xfrm>
          <a:prstGeom prst="roundRect">
            <a:avLst>
              <a:gd name="adj" fmla="val 6604"/>
            </a:avLst>
          </a:prstGeom>
          <a:solidFill>
            <a:srgbClr val="9E3F3F"/>
          </a:solidFill>
          <a:ln/>
          <a:effectLst>
            <a:outerShdw sx="100000" sy="100000" kx="0" ky="0" algn="bl" rotWithShape="0" blurRad="101600" dist="25400" dir="5400000">
              <a:srgbClr val="5A252C">
                <a:alpha val="18000"/>
              </a:srgbClr>
            </a:outerShdw>
          </a:effectLst>
        </p:spPr>
      </p:sp>
      <p:sp>
        <p:nvSpPr>
          <p:cNvPr id="10" name="Text 8"/>
          <p:cNvSpPr/>
          <p:nvPr/>
        </p:nvSpPr>
        <p:spPr>
          <a:xfrm>
            <a:off x="825500" y="3475434"/>
            <a:ext cx="3074035"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FFFFF"/>
                </a:solidFill>
                <a:latin typeface="Poppins" pitchFamily="34" charset="0"/>
                <a:ea typeface="Poppins" pitchFamily="34" charset="-122"/>
                <a:cs typeface="Poppins" pitchFamily="34" charset="-120"/>
              </a:rPr>
              <a:t>+0.69 pts</a:t>
            </a:r>
            <a:endParaRPr lang="en-US" sz="3400" dirty="0"/>
          </a:p>
        </p:txBody>
      </p:sp>
      <p:sp>
        <p:nvSpPr>
          <p:cNvPr id="11" name="Text 9"/>
          <p:cNvSpPr/>
          <p:nvPr/>
        </p:nvSpPr>
        <p:spPr>
          <a:xfrm>
            <a:off x="825500" y="3988495"/>
            <a:ext cx="307403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per extra session, 95% CI [−0.15, 1.53], p = .104</a:t>
            </a:r>
            <a:endParaRPr lang="en-US" sz="1600" dirty="0"/>
          </a:p>
        </p:txBody>
      </p:sp>
      <p:sp>
        <p:nvSpPr>
          <p:cNvPr id="12" name="Shape 10"/>
          <p:cNvSpPr/>
          <p:nvPr/>
        </p:nvSpPr>
        <p:spPr>
          <a:xfrm>
            <a:off x="4254500" y="1583829"/>
            <a:ext cx="7302500" cy="2787650"/>
          </a:xfrm>
          <a:prstGeom prst="roundRect">
            <a:avLst>
              <a:gd name="adj" fmla="val 3189"/>
            </a:avLst>
          </a:prstGeom>
          <a:solidFill>
            <a:srgbClr val="FFFFFF"/>
          </a:solidFill>
          <a:ln/>
          <a:effectLst>
            <a:outerShdw sx="100000" sy="100000" kx="0" ky="0" algn="bl" rotWithShape="0" blurRad="101600" dist="25400" dir="5400000">
              <a:srgbClr val="5A252C">
                <a:alpha val="18000"/>
              </a:srgbClr>
            </a:outerShdw>
          </a:effectLst>
        </p:spPr>
      </p:sp>
      <p:pic>
        <p:nvPicPr>
          <p:cNvPr id="13" name="Image 0" descr="Predicted change across weekly sets for muscle size and strength">    </p:cNvPr>
          <p:cNvPicPr>
            <a:picLocks noChangeAspect="1"/>
          </p:cNvPicPr>
          <p:nvPr/>
        </p:nvPicPr>
        <p:blipFill>
          <a:blip r:embed="rId1"/>
          <a:srcRect l="0" r="0" t="-9" b="-9"/>
          <a:stretch/>
        </p:blipFill>
        <p:spPr>
          <a:xfrm>
            <a:off x="4254500" y="1583829"/>
            <a:ext cx="7302500" cy="2787650"/>
          </a:xfrm>
          <a:prstGeom prst="roundRect">
            <a:avLst>
              <a:gd name="adj" fmla="val 3189"/>
            </a:avLst>
          </a:prstGeom>
        </p:spPr>
      </p:pic>
      <p:sp>
        <p:nvSpPr>
          <p:cNvPr id="14" name="Text 11"/>
          <p:cNvSpPr/>
          <p:nvPr/>
        </p:nvSpPr>
        <p:spPr>
          <a:xfrm>
            <a:off x="4254500" y="4447679"/>
            <a:ext cx="7521575"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6B4A4D"/>
                </a:solidFill>
                <a:latin typeface="Inter" pitchFamily="34" charset="0"/>
                <a:ea typeface="Inter" pitchFamily="34" charset="-122"/>
                <a:cs typeface="Inter" pitchFamily="34" charset="-120"/>
              </a:rPr>
              <a:t>Figure 3.</a:t>
            </a:r>
            <a:r>
              <a:rPr lang="en-US" sz="1400" dirty="0">
                <a:solidFill>
                  <a:srgbClr val="6B4A4D"/>
                </a:solidFill>
                <a:latin typeface="Inter" pitchFamily="34" charset="0"/>
                <a:ea typeface="Inter" pitchFamily="34" charset="-122"/>
                <a:cs typeface="Inter" pitchFamily="34" charset="-120"/>
              </a:rPr>
              <a:t> </a:t>
            </a:r>
            <a:r>
              <a:rPr lang="en-US" sz="1400" i="1" dirty="0">
                <a:solidFill>
                  <a:srgbClr val="6B4A4D"/>
                </a:solidFill>
                <a:latin typeface="Inter" pitchFamily="34" charset="0"/>
                <a:ea typeface="Inter" pitchFamily="34" charset="-122"/>
                <a:cs typeface="Inter" pitchFamily="34" charset="-120"/>
              </a:rPr>
              <a:t>Predicted change by weekly sets (Model 4). Left: muscle size. Right: strength.</a:t>
            </a:r>
            <a:endParaRPr lang="en-US" sz="1400" dirty="0"/>
          </a:p>
        </p:txBody>
      </p:sp>
      <p:sp>
        <p:nvSpPr>
          <p:cNvPr id="15" name="Text 12"/>
          <p:cNvSpPr/>
          <p:nvPr/>
        </p:nvSpPr>
        <p:spPr>
          <a:xfrm>
            <a:off x="635000" y="5515769"/>
            <a:ext cx="10922000" cy="1024731"/>
          </a:xfrm>
          <a:prstGeom prst="roundRect">
            <a:avLst>
              <a:gd name="adj" fmla="val 6197"/>
            </a:avLst>
          </a:prstGeom>
          <a:solidFill>
            <a:srgbClr val="5A252C"/>
          </a:solidFill>
          <a:ln/>
        </p:spPr>
        <p:txBody>
          <a:bodyPr wrap="square" lIns="286201" tIns="133801" rIns="0" bIns="108401"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Frequency alone: +1.23 per session (p = .006). Add volume and it shrinks to +0.69: much of it was a volume effect.</a:t>
            </a:r>
            <a:endParaRPr lang="en-US" sz="2100" dirty="0"/>
          </a:p>
        </p:txBody>
      </p:sp>
      <p:sp>
        <p:nvSpPr>
          <p:cNvPr id="16" name="Shape 13"/>
          <p:cNvSpPr/>
          <p:nvPr/>
        </p:nvSpPr>
        <p:spPr>
          <a:xfrm>
            <a:off x="635000" y="5515769"/>
            <a:ext cx="10922000" cy="1024731"/>
          </a:xfrm>
          <a:custGeom>
            <a:avLst/>
            <a:gdLst/>
            <a:ahLst/>
            <a:cxnLst/>
            <a:rect l="l" t="t" r="r" b="b"/>
            <a:pathLst>
              <a:path w="10922000" h="1024731">
                <a:moveTo>
                  <a:pt x="76200" y="1024731"/>
                </a:moveTo>
                <a:lnTo>
                  <a:pt x="63500" y="1024731"/>
                </a:lnTo>
                <a:arcTo hR="63500" wR="63500" stAng="5400000" swAng="5400000"/>
                <a:lnTo>
                  <a:pt x="0" y="63500"/>
                </a:lnTo>
                <a:arcTo hR="63500" wR="63500" stAng="10800000" swAng="5400000"/>
                <a:lnTo>
                  <a:pt x="76200" y="0"/>
                </a:lnTo>
                <a:lnTo>
                  <a:pt x="76200" y="1024731"/>
                </a:lnTo>
                <a:close/>
              </a:path>
            </a:pathLst>
          </a:custGeom>
          <a:solidFill>
            <a:srgbClr val="C97979"/>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Results: Strength Gain</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10</a:t>
            </a:r>
            <a:endParaRPr lang="en-US" sz="2000" dirty="0"/>
          </a:p>
        </p:txBody>
      </p:sp>
      <p:sp>
        <p:nvSpPr>
          <p:cNvPr id="6" name="Shape 4"/>
          <p:cNvSpPr/>
          <p:nvPr/>
        </p:nvSpPr>
        <p:spPr>
          <a:xfrm>
            <a:off x="635000" y="1841599"/>
            <a:ext cx="3365500" cy="1346101"/>
          </a:xfrm>
          <a:prstGeom prst="roundRect">
            <a:avLst>
              <a:gd name="adj" fmla="val 6604"/>
            </a:avLst>
          </a:prstGeom>
          <a:solidFill>
            <a:srgbClr val="5A252C"/>
          </a:solidFill>
          <a:ln/>
          <a:effectLst>
            <a:outerShdw sx="100000" sy="100000" kx="0" ky="0" algn="bl" rotWithShape="0" blurRad="101600" dist="25400" dir="5400000">
              <a:srgbClr val="5A252C">
                <a:alpha val="18000"/>
              </a:srgbClr>
            </a:outerShdw>
          </a:effectLst>
        </p:spPr>
      </p:sp>
      <p:sp>
        <p:nvSpPr>
          <p:cNvPr id="7" name="Text 5"/>
          <p:cNvSpPr/>
          <p:nvPr/>
        </p:nvSpPr>
        <p:spPr>
          <a:xfrm>
            <a:off x="825500" y="1993999"/>
            <a:ext cx="3074035"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FFFFF"/>
                </a:solidFill>
                <a:latin typeface="Poppins" pitchFamily="34" charset="0"/>
                <a:ea typeface="Poppins" pitchFamily="34" charset="-122"/>
                <a:cs typeface="Poppins" pitchFamily="34" charset="-120"/>
              </a:rPr>
              <a:t>+1.98 pts</a:t>
            </a:r>
            <a:endParaRPr lang="en-US" sz="3400" dirty="0"/>
          </a:p>
        </p:txBody>
      </p:sp>
      <p:sp>
        <p:nvSpPr>
          <p:cNvPr id="8" name="Text 6"/>
          <p:cNvSpPr/>
          <p:nvPr/>
        </p:nvSpPr>
        <p:spPr>
          <a:xfrm>
            <a:off x="825500" y="2507059"/>
            <a:ext cx="307403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per extra session, 95% CI [0.25, 3.70], p = .025</a:t>
            </a:r>
            <a:endParaRPr lang="en-US" sz="1600" dirty="0"/>
          </a:p>
        </p:txBody>
      </p:sp>
      <p:sp>
        <p:nvSpPr>
          <p:cNvPr id="9" name="Shape 7"/>
          <p:cNvSpPr/>
          <p:nvPr/>
        </p:nvSpPr>
        <p:spPr>
          <a:xfrm>
            <a:off x="635000" y="3340100"/>
            <a:ext cx="3365500" cy="1346101"/>
          </a:xfrm>
          <a:prstGeom prst="roundRect">
            <a:avLst>
              <a:gd name="adj" fmla="val 6604"/>
            </a:avLst>
          </a:prstGeom>
          <a:solidFill>
            <a:srgbClr val="9E3F3F"/>
          </a:solidFill>
          <a:ln/>
          <a:effectLst>
            <a:outerShdw sx="100000" sy="100000" kx="0" ky="0" algn="bl" rotWithShape="0" blurRad="101600" dist="25400" dir="5400000">
              <a:srgbClr val="5A252C">
                <a:alpha val="18000"/>
              </a:srgbClr>
            </a:outerShdw>
          </a:effectLst>
        </p:spPr>
      </p:sp>
      <p:sp>
        <p:nvSpPr>
          <p:cNvPr id="10" name="Text 8"/>
          <p:cNvSpPr/>
          <p:nvPr/>
        </p:nvSpPr>
        <p:spPr>
          <a:xfrm>
            <a:off x="825500" y="3492500"/>
            <a:ext cx="3074035"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FFFFF"/>
                </a:solidFill>
                <a:latin typeface="Poppins" pitchFamily="34" charset="0"/>
                <a:ea typeface="Poppins" pitchFamily="34" charset="-122"/>
                <a:cs typeface="Poppins" pitchFamily="34" charset="-120"/>
              </a:rPr>
              <a:t>+0.81 pts</a:t>
            </a:r>
            <a:endParaRPr lang="en-US" sz="3400" dirty="0"/>
          </a:p>
        </p:txBody>
      </p:sp>
      <p:sp>
        <p:nvSpPr>
          <p:cNvPr id="11" name="Text 9"/>
          <p:cNvSpPr/>
          <p:nvPr/>
        </p:nvSpPr>
        <p:spPr>
          <a:xfrm>
            <a:off x="825500" y="4005560"/>
            <a:ext cx="307403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per 10 extra sets, 95% CI [−1.11, 2.73], p = .402</a:t>
            </a:r>
            <a:endParaRPr lang="en-US" sz="1600" dirty="0"/>
          </a:p>
        </p:txBody>
      </p:sp>
      <p:sp>
        <p:nvSpPr>
          <p:cNvPr id="12" name="Shape 10"/>
          <p:cNvSpPr/>
          <p:nvPr/>
        </p:nvSpPr>
        <p:spPr>
          <a:xfrm>
            <a:off x="4254500" y="1716385"/>
            <a:ext cx="7302500" cy="2787650"/>
          </a:xfrm>
          <a:prstGeom prst="roundRect">
            <a:avLst>
              <a:gd name="adj" fmla="val 3189"/>
            </a:avLst>
          </a:prstGeom>
          <a:solidFill>
            <a:srgbClr val="FFFFFF"/>
          </a:solidFill>
          <a:ln/>
          <a:effectLst>
            <a:outerShdw sx="100000" sy="100000" kx="0" ky="0" algn="bl" rotWithShape="0" blurRad="101600" dist="25400" dir="5400000">
              <a:srgbClr val="5A252C">
                <a:alpha val="18000"/>
              </a:srgbClr>
            </a:outerShdw>
          </a:effectLst>
        </p:spPr>
      </p:sp>
      <p:pic>
        <p:nvPicPr>
          <p:cNvPr id="13" name="Image 0" descr="Adjusted mean change in muscle size and strength by training frequency level">    </p:cNvPr>
          <p:cNvPicPr>
            <a:picLocks noChangeAspect="1"/>
          </p:cNvPicPr>
          <p:nvPr/>
        </p:nvPicPr>
        <p:blipFill>
          <a:blip r:embed="rId1"/>
          <a:srcRect l="0" r="0" t="-82" b="-82"/>
          <a:stretch/>
        </p:blipFill>
        <p:spPr>
          <a:xfrm>
            <a:off x="4254500" y="1716385"/>
            <a:ext cx="7302500" cy="2787650"/>
          </a:xfrm>
          <a:prstGeom prst="roundRect">
            <a:avLst>
              <a:gd name="adj" fmla="val 3189"/>
            </a:avLst>
          </a:prstGeom>
        </p:spPr>
      </p:pic>
      <p:sp>
        <p:nvSpPr>
          <p:cNvPr id="14" name="Text 11"/>
          <p:cNvSpPr/>
          <p:nvPr/>
        </p:nvSpPr>
        <p:spPr>
          <a:xfrm>
            <a:off x="4254500" y="4580235"/>
            <a:ext cx="752157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6B4A4D"/>
                </a:solidFill>
                <a:latin typeface="Inter" pitchFamily="34" charset="0"/>
                <a:ea typeface="Inter" pitchFamily="34" charset="-122"/>
                <a:cs typeface="Inter" pitchFamily="34" charset="-120"/>
              </a:rPr>
              <a:t>Figure 4.</a:t>
            </a:r>
            <a:r>
              <a:rPr lang="en-US" sz="1400" dirty="0">
                <a:solidFill>
                  <a:srgbClr val="6B4A4D"/>
                </a:solidFill>
                <a:latin typeface="Inter" pitchFamily="34" charset="0"/>
                <a:ea typeface="Inter" pitchFamily="34" charset="-122"/>
                <a:cs typeface="Inter" pitchFamily="34" charset="-120"/>
              </a:rPr>
              <a:t> </a:t>
            </a:r>
            <a:r>
              <a:rPr lang="en-US" sz="1400" i="1" dirty="0">
                <a:solidFill>
                  <a:srgbClr val="6B4A4D"/>
                </a:solidFill>
                <a:latin typeface="Inter" pitchFamily="34" charset="0"/>
                <a:ea typeface="Inter" pitchFamily="34" charset="-122"/>
                <a:cs typeface="Inter" pitchFamily="34" charset="-120"/>
              </a:rPr>
              <a:t>Adjusted mean change by sessions per muscle per week (ANCOVA).</a:t>
            </a:r>
            <a:endParaRPr lang="en-US" sz="1400" dirty="0"/>
          </a:p>
        </p:txBody>
      </p:sp>
      <p:sp>
        <p:nvSpPr>
          <p:cNvPr id="15" name="Text 12"/>
          <p:cNvSpPr/>
          <p:nvPr/>
        </p:nvSpPr>
        <p:spPr>
          <a:xfrm>
            <a:off x="635000" y="5549900"/>
            <a:ext cx="10922000" cy="990600"/>
          </a:xfrm>
          <a:prstGeom prst="roundRect">
            <a:avLst>
              <a:gd name="adj" fmla="val 6410"/>
            </a:avLst>
          </a:prstGeom>
          <a:solidFill>
            <a:srgbClr val="5A252C"/>
          </a:solidFill>
          <a:ln/>
        </p:spPr>
        <p:txBody>
          <a:bodyPr wrap="square" lIns="286201" tIns="133801" rIns="0" bIns="108401" rtlCol="0" anchor="t">
            <a:normAutofit/>
          </a:bodyPr>
          <a:lstStyle/>
          <a:p>
            <a:pPr algn="l" indent="0" marL="0">
              <a:lnSpc>
                <a:spcPts val="2700"/>
              </a:lnSpc>
              <a:buNone/>
            </a:pPr>
            <a:r>
              <a:rPr lang="en-US" sz="2000" dirty="0">
                <a:solidFill>
                  <a:srgbClr val="FFFFFF"/>
                </a:solidFill>
                <a:latin typeface="Inter" pitchFamily="34" charset="0"/>
                <a:ea typeface="Inter" pitchFamily="34" charset="-122"/>
                <a:cs typeface="Inter" pitchFamily="34" charset="-120"/>
              </a:rPr>
              <a:t>Frequency matters for strength after volume; volume does not. 3 or more sessions beat 1 or fewer by 7.7 points (Tukey p = .011). </a:t>
            </a:r>
            <a:r>
              <a:rPr lang="en-US" sz="2000" b="1" dirty="0">
                <a:solidFill>
                  <a:srgbClr val="FFFFFF"/>
                </a:solidFill>
                <a:latin typeface="Inter" pitchFamily="34" charset="0"/>
                <a:ea typeface="Inter" pitchFamily="34" charset="-122"/>
                <a:cs typeface="Inter" pitchFamily="34" charset="-120"/>
              </a:rPr>
              <a:t>Association, not causation.</a:t>
            </a:r>
            <a:endParaRPr lang="en-US" sz="2000" dirty="0"/>
          </a:p>
        </p:txBody>
      </p:sp>
      <p:sp>
        <p:nvSpPr>
          <p:cNvPr id="16" name="Shape 13"/>
          <p:cNvSpPr/>
          <p:nvPr/>
        </p:nvSpPr>
        <p:spPr>
          <a:xfrm>
            <a:off x="635000" y="5549900"/>
            <a:ext cx="10922000" cy="990600"/>
          </a:xfrm>
          <a:custGeom>
            <a:avLst/>
            <a:gdLst/>
            <a:ahLst/>
            <a:cxnLst/>
            <a:rect l="l" t="t" r="r" b="b"/>
            <a:pathLst>
              <a:path w="10922000" h="990600">
                <a:moveTo>
                  <a:pt x="76200" y="990600"/>
                </a:moveTo>
                <a:lnTo>
                  <a:pt x="63500" y="990600"/>
                </a:lnTo>
                <a:arcTo hR="63500" wR="63500" stAng="5400000" swAng="5400000"/>
                <a:lnTo>
                  <a:pt x="0" y="63500"/>
                </a:lnTo>
                <a:arcTo hR="63500" wR="63500" stAng="10800000" swAng="5400000"/>
                <a:lnTo>
                  <a:pt x="76200" y="0"/>
                </a:lnTo>
                <a:lnTo>
                  <a:pt x="76200" y="990600"/>
                </a:lnTo>
                <a:close/>
              </a:path>
            </a:pathLst>
          </a:custGeom>
          <a:solidFill>
            <a:srgbClr val="C97979"/>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Results: Frequency × Volume</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11</a:t>
            </a:r>
            <a:endParaRPr lang="en-US" sz="2000" dirty="0"/>
          </a:p>
        </p:txBody>
      </p:sp>
      <p:sp>
        <p:nvSpPr>
          <p:cNvPr id="6" name="Shape 4"/>
          <p:cNvSpPr/>
          <p:nvPr/>
        </p:nvSpPr>
        <p:spPr>
          <a:xfrm>
            <a:off x="635000" y="1716385"/>
            <a:ext cx="7302500" cy="2787650"/>
          </a:xfrm>
          <a:prstGeom prst="roundRect">
            <a:avLst>
              <a:gd name="adj" fmla="val 3189"/>
            </a:avLst>
          </a:prstGeom>
          <a:solidFill>
            <a:srgbClr val="FFFFFF"/>
          </a:solidFill>
          <a:ln/>
          <a:effectLst>
            <a:outerShdw sx="100000" sy="100000" kx="0" ky="0" algn="bl" rotWithShape="0" blurRad="101600" dist="25400" dir="5400000">
              <a:srgbClr val="5A252C">
                <a:alpha val="18000"/>
              </a:srgbClr>
            </a:outerShdw>
          </a:effectLst>
        </p:spPr>
      </p:sp>
      <p:pic>
        <p:nvPicPr>
          <p:cNvPr id="7" name="Image 0" descr="Predicted change against sessions per week at low, average and high weekly sets">    </p:cNvPr>
          <p:cNvPicPr>
            <a:picLocks noChangeAspect="1"/>
          </p:cNvPicPr>
          <p:nvPr/>
        </p:nvPicPr>
        <p:blipFill>
          <a:blip r:embed="rId1"/>
          <a:srcRect l="0" r="0" t="-9" b="-9"/>
          <a:stretch/>
        </p:blipFill>
        <p:spPr>
          <a:xfrm>
            <a:off x="635000" y="1716385"/>
            <a:ext cx="7302500" cy="2787650"/>
          </a:xfrm>
          <a:prstGeom prst="roundRect">
            <a:avLst>
              <a:gd name="adj" fmla="val 3189"/>
            </a:avLst>
          </a:prstGeom>
        </p:spPr>
      </p:pic>
      <p:sp>
        <p:nvSpPr>
          <p:cNvPr id="8" name="Text 5"/>
          <p:cNvSpPr/>
          <p:nvPr/>
        </p:nvSpPr>
        <p:spPr>
          <a:xfrm>
            <a:off x="635000" y="4580235"/>
            <a:ext cx="752157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6B4A4D"/>
                </a:solidFill>
                <a:latin typeface="Inter" pitchFamily="34" charset="0"/>
                <a:ea typeface="Inter" pitchFamily="34" charset="-122"/>
                <a:cs typeface="Inter" pitchFamily="34" charset="-120"/>
              </a:rPr>
              <a:t>Figure 5.</a:t>
            </a:r>
            <a:r>
              <a:rPr lang="en-US" sz="1400" dirty="0">
                <a:solidFill>
                  <a:srgbClr val="6B4A4D"/>
                </a:solidFill>
                <a:latin typeface="Inter" pitchFamily="34" charset="0"/>
                <a:ea typeface="Inter" pitchFamily="34" charset="-122"/>
                <a:cs typeface="Inter" pitchFamily="34" charset="-120"/>
              </a:rPr>
              <a:t> </a:t>
            </a:r>
            <a:r>
              <a:rPr lang="en-US" sz="1400" i="1" dirty="0">
                <a:solidFill>
                  <a:srgbClr val="6B4A4D"/>
                </a:solidFill>
                <a:latin typeface="Inter" pitchFamily="34" charset="0"/>
                <a:ea typeface="Inter" pitchFamily="34" charset="-122"/>
                <a:cs typeface="Inter" pitchFamily="34" charset="-120"/>
              </a:rPr>
              <a:t>Predicted change at low, average and high weekly volume (Model 3).</a:t>
            </a:r>
            <a:endParaRPr lang="en-US" sz="1400" dirty="0"/>
          </a:p>
        </p:txBody>
      </p:sp>
      <p:sp>
        <p:nvSpPr>
          <p:cNvPr id="9" name="Shape 6"/>
          <p:cNvSpPr/>
          <p:nvPr/>
        </p:nvSpPr>
        <p:spPr>
          <a:xfrm>
            <a:off x="8191500" y="1981299"/>
            <a:ext cx="3365500" cy="942280"/>
          </a:xfrm>
          <a:prstGeom prst="roundRect">
            <a:avLst>
              <a:gd name="adj" fmla="val 9435"/>
            </a:avLst>
          </a:prstGeom>
          <a:solidFill>
            <a:srgbClr val="5A252C"/>
          </a:solidFill>
          <a:ln/>
          <a:effectLst>
            <a:outerShdw sx="100000" sy="100000" kx="0" ky="0" algn="bl" rotWithShape="0" blurRad="101600" dist="25400" dir="5400000">
              <a:srgbClr val="5A252C">
                <a:alpha val="18000"/>
              </a:srgbClr>
            </a:outerShdw>
          </a:effectLst>
        </p:spPr>
      </p:sp>
      <p:sp>
        <p:nvSpPr>
          <p:cNvPr id="10" name="Text 7"/>
          <p:cNvSpPr/>
          <p:nvPr/>
        </p:nvSpPr>
        <p:spPr>
          <a:xfrm>
            <a:off x="8382000" y="2133699"/>
            <a:ext cx="307403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p = .986</a:t>
            </a:r>
            <a:endParaRPr lang="en-US" sz="2400" dirty="0"/>
          </a:p>
        </p:txBody>
      </p:sp>
      <p:sp>
        <p:nvSpPr>
          <p:cNvPr id="11" name="Text 8"/>
          <p:cNvSpPr/>
          <p:nvPr/>
        </p:nvSpPr>
        <p:spPr>
          <a:xfrm>
            <a:off x="8382000" y="2507059"/>
            <a:ext cx="3074035"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interaction, muscle size</a:t>
            </a:r>
            <a:endParaRPr lang="en-US" sz="1600" dirty="0"/>
          </a:p>
        </p:txBody>
      </p:sp>
      <p:sp>
        <p:nvSpPr>
          <p:cNvPr id="12" name="Shape 9"/>
          <p:cNvSpPr/>
          <p:nvPr/>
        </p:nvSpPr>
        <p:spPr>
          <a:xfrm>
            <a:off x="8191500" y="3075980"/>
            <a:ext cx="3365500" cy="1470521"/>
          </a:xfrm>
          <a:prstGeom prst="roundRect">
            <a:avLst>
              <a:gd name="adj" fmla="val 6045"/>
            </a:avLst>
          </a:prstGeom>
          <a:solidFill>
            <a:srgbClr val="9E3F3F"/>
          </a:solidFill>
          <a:ln/>
          <a:effectLst>
            <a:outerShdw sx="100000" sy="100000" kx="0" ky="0" algn="bl" rotWithShape="0" blurRad="101600" dist="25400" dir="5400000">
              <a:srgbClr val="5A252C">
                <a:alpha val="18000"/>
              </a:srgbClr>
            </a:outerShdw>
          </a:effectLst>
        </p:spPr>
      </p:sp>
      <p:sp>
        <p:nvSpPr>
          <p:cNvPr id="13" name="Text 10"/>
          <p:cNvSpPr/>
          <p:nvPr/>
        </p:nvSpPr>
        <p:spPr>
          <a:xfrm>
            <a:off x="8382000" y="3228380"/>
            <a:ext cx="307403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−1.60, p = .040</a:t>
            </a:r>
            <a:endParaRPr lang="en-US" sz="2400" dirty="0"/>
          </a:p>
        </p:txBody>
      </p:sp>
      <p:sp>
        <p:nvSpPr>
          <p:cNvPr id="14" name="Text 11"/>
          <p:cNvSpPr/>
          <p:nvPr/>
        </p:nvSpPr>
        <p:spPr>
          <a:xfrm>
            <a:off x="8382000" y="3601740"/>
            <a:ext cx="3074035"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interaction, strength: +3.7 / +2.2 / +0.7 per session at low / average / high volume</a:t>
            </a:r>
            <a:endParaRPr lang="en-US" sz="1600" dirty="0"/>
          </a:p>
        </p:txBody>
      </p:sp>
      <p:sp>
        <p:nvSpPr>
          <p:cNvPr id="15" name="Text 12"/>
          <p:cNvSpPr/>
          <p:nvPr/>
        </p:nvSpPr>
        <p:spPr>
          <a:xfrm>
            <a:off x="635000" y="5549900"/>
            <a:ext cx="10922000" cy="990600"/>
          </a:xfrm>
          <a:prstGeom prst="roundRect">
            <a:avLst>
              <a:gd name="adj" fmla="val 6410"/>
            </a:avLst>
          </a:prstGeom>
          <a:solidFill>
            <a:srgbClr val="5A252C"/>
          </a:solidFill>
          <a:ln/>
        </p:spPr>
        <p:txBody>
          <a:bodyPr wrap="square" lIns="286201" tIns="133801" rIns="0" bIns="108401" rtlCol="0" anchor="t">
            <a:normAutofit/>
          </a:bodyPr>
          <a:lstStyle/>
          <a:p>
            <a:pPr algn="l" indent="0" marL="0">
              <a:lnSpc>
                <a:spcPts val="2700"/>
              </a:lnSpc>
              <a:buNone/>
            </a:pPr>
            <a:r>
              <a:rPr lang="en-US" sz="2000" dirty="0">
                <a:solidFill>
                  <a:srgbClr val="FFFFFF"/>
                </a:solidFill>
                <a:latin typeface="Inter" pitchFamily="34" charset="0"/>
                <a:ea typeface="Inter" pitchFamily="34" charset="-122"/>
                <a:cs typeface="Inter" pitchFamily="34" charset="-120"/>
              </a:rPr>
              <a:t>Muscle size: no interaction. Strength: </a:t>
            </a:r>
            <a:r>
              <a:rPr lang="en-US" sz="2000" b="1" dirty="0">
                <a:solidFill>
                  <a:srgbClr val="FFFFFF"/>
                </a:solidFill>
                <a:latin typeface="Inter" pitchFamily="34" charset="0"/>
                <a:ea typeface="Inter" pitchFamily="34" charset="-122"/>
                <a:cs typeface="Inter" pitchFamily="34" charset="-120"/>
              </a:rPr>
              <a:t>suggestive only</a:t>
            </a:r>
            <a:r>
              <a:rPr lang="en-US" sz="2000" dirty="0">
                <a:solidFill>
                  <a:srgbClr val="FFFFFF"/>
                </a:solidFill>
                <a:latin typeface="Inter" pitchFamily="34" charset="0"/>
                <a:ea typeface="Inter" pitchFamily="34" charset="-122"/>
                <a:cs typeface="Inter" pitchFamily="34" charset="-120"/>
              </a:rPr>
              <a:t>. The study-level bootstrap interval [−3.36, 0.02] reaches zero, and we tested four hypotheses.</a:t>
            </a:r>
            <a:endParaRPr lang="en-US" sz="2000" dirty="0"/>
          </a:p>
        </p:txBody>
      </p:sp>
      <p:sp>
        <p:nvSpPr>
          <p:cNvPr id="16" name="Shape 13"/>
          <p:cNvSpPr/>
          <p:nvPr/>
        </p:nvSpPr>
        <p:spPr>
          <a:xfrm>
            <a:off x="635000" y="5549900"/>
            <a:ext cx="10922000" cy="990600"/>
          </a:xfrm>
          <a:custGeom>
            <a:avLst/>
            <a:gdLst/>
            <a:ahLst/>
            <a:cxnLst/>
            <a:rect l="l" t="t" r="r" b="b"/>
            <a:pathLst>
              <a:path w="10922000" h="990600">
                <a:moveTo>
                  <a:pt x="76200" y="990600"/>
                </a:moveTo>
                <a:lnTo>
                  <a:pt x="63500" y="990600"/>
                </a:lnTo>
                <a:arcTo hR="63500" wR="63500" stAng="5400000" swAng="5400000"/>
                <a:lnTo>
                  <a:pt x="0" y="63500"/>
                </a:lnTo>
                <a:arcTo hR="63500" wR="63500" stAng="10800000" swAng="5400000"/>
                <a:lnTo>
                  <a:pt x="76200" y="0"/>
                </a:lnTo>
                <a:lnTo>
                  <a:pt x="76200" y="990600"/>
                </a:lnTo>
                <a:close/>
              </a:path>
            </a:pathLst>
          </a:custGeom>
          <a:solidFill>
            <a:srgbClr val="C97979"/>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Evaluation Metrics</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12</a:t>
            </a:r>
            <a:endParaRPr lang="en-US" sz="2000" dirty="0"/>
          </a:p>
        </p:txBody>
      </p:sp>
      <p:sp>
        <p:nvSpPr>
          <p:cNvPr id="6" name="Shape 4"/>
          <p:cNvSpPr/>
          <p:nvPr/>
        </p:nvSpPr>
        <p:spPr>
          <a:xfrm>
            <a:off x="635000" y="1181100"/>
            <a:ext cx="3539034" cy="1206401"/>
          </a:xfrm>
          <a:prstGeom prst="roundRect">
            <a:avLst>
              <a:gd name="adj" fmla="val 7369"/>
            </a:avLst>
          </a:prstGeom>
          <a:solidFill>
            <a:srgbClr val="5A252C"/>
          </a:solidFill>
          <a:ln/>
          <a:effectLst>
            <a:outerShdw sx="100000" sy="100000" kx="0" ky="0" algn="bl" rotWithShape="0" blurRad="101600" dist="25400" dir="5400000">
              <a:srgbClr val="5A252C">
                <a:alpha val="18000"/>
              </a:srgbClr>
            </a:outerShdw>
          </a:effectLst>
        </p:spPr>
      </p:sp>
      <p:sp>
        <p:nvSpPr>
          <p:cNvPr id="7" name="Text 5"/>
          <p:cNvSpPr/>
          <p:nvPr/>
        </p:nvSpPr>
        <p:spPr>
          <a:xfrm>
            <a:off x="825500" y="1333500"/>
            <a:ext cx="325277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R² .283 / .205</a:t>
            </a:r>
            <a:endParaRPr lang="en-US" sz="2400" dirty="0"/>
          </a:p>
        </p:txBody>
      </p:sp>
      <p:sp>
        <p:nvSpPr>
          <p:cNvPr id="8" name="Text 6"/>
          <p:cNvSpPr/>
          <p:nvPr/>
        </p:nvSpPr>
        <p:spPr>
          <a:xfrm>
            <a:off x="825500" y="1706860"/>
            <a:ext cx="325277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Model 2 on all groups (muscle / strength)</a:t>
            </a:r>
            <a:endParaRPr lang="en-US" sz="1600" dirty="0"/>
          </a:p>
        </p:txBody>
      </p:sp>
      <p:sp>
        <p:nvSpPr>
          <p:cNvPr id="9" name="Shape 7"/>
          <p:cNvSpPr/>
          <p:nvPr/>
        </p:nvSpPr>
        <p:spPr>
          <a:xfrm>
            <a:off x="4326434" y="1181100"/>
            <a:ext cx="3539133" cy="1206401"/>
          </a:xfrm>
          <a:prstGeom prst="roundRect">
            <a:avLst>
              <a:gd name="adj" fmla="val 7369"/>
            </a:avLst>
          </a:prstGeom>
          <a:solidFill>
            <a:srgbClr val="9E3F3F"/>
          </a:solidFill>
          <a:ln/>
          <a:effectLst>
            <a:outerShdw sx="100000" sy="100000" kx="0" ky="0" algn="bl" rotWithShape="0" blurRad="101600" dist="25400" dir="5400000">
              <a:srgbClr val="5A252C">
                <a:alpha val="18000"/>
              </a:srgbClr>
            </a:outerShdw>
          </a:effectLst>
        </p:spPr>
      </p:sp>
      <p:sp>
        <p:nvSpPr>
          <p:cNvPr id="10" name="Text 8"/>
          <p:cNvSpPr/>
          <p:nvPr/>
        </p:nvSpPr>
        <p:spPr>
          <a:xfrm>
            <a:off x="4516934" y="1333500"/>
            <a:ext cx="3252877"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CV R² −.15 / .03</a:t>
            </a:r>
            <a:endParaRPr lang="en-US" sz="2400" dirty="0"/>
          </a:p>
        </p:txBody>
      </p:sp>
      <p:sp>
        <p:nvSpPr>
          <p:cNvPr id="11" name="Text 9"/>
          <p:cNvSpPr/>
          <p:nvPr/>
        </p:nvSpPr>
        <p:spPr>
          <a:xfrm>
            <a:off x="4516934" y="1706860"/>
            <a:ext cx="3252877"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held-out studies, Model 2 (muscle / strength)</a:t>
            </a:r>
            <a:endParaRPr lang="en-US" sz="1600" dirty="0"/>
          </a:p>
        </p:txBody>
      </p:sp>
      <p:sp>
        <p:nvSpPr>
          <p:cNvPr id="12" name="Shape 10"/>
          <p:cNvSpPr/>
          <p:nvPr/>
        </p:nvSpPr>
        <p:spPr>
          <a:xfrm>
            <a:off x="8017966" y="1181100"/>
            <a:ext cx="3539034" cy="1206401"/>
          </a:xfrm>
          <a:prstGeom prst="roundRect">
            <a:avLst>
              <a:gd name="adj" fmla="val 7369"/>
            </a:avLst>
          </a:prstGeom>
          <a:solidFill>
            <a:srgbClr val="5A252C"/>
          </a:solidFill>
          <a:ln/>
          <a:effectLst>
            <a:outerShdw sx="100000" sy="100000" kx="0" ky="0" algn="bl" rotWithShape="0" blurRad="101600" dist="25400" dir="5400000">
              <a:srgbClr val="5A252C">
                <a:alpha val="18000"/>
              </a:srgbClr>
            </a:outerShdw>
          </a:effectLst>
        </p:spPr>
      </p:sp>
      <p:sp>
        <p:nvSpPr>
          <p:cNvPr id="13" name="Text 11"/>
          <p:cNvSpPr/>
          <p:nvPr/>
        </p:nvSpPr>
        <p:spPr>
          <a:xfrm>
            <a:off x="8208466" y="1333500"/>
            <a:ext cx="325277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FFFFF"/>
                </a:solidFill>
                <a:latin typeface="Poppins" pitchFamily="34" charset="0"/>
                <a:ea typeface="Poppins" pitchFamily="34" charset="-122"/>
                <a:cs typeface="Poppins" pitchFamily="34" charset="-120"/>
              </a:rPr>
              <a:t>RMSE 4.9 / 10.0</a:t>
            </a:r>
            <a:endParaRPr lang="en-US" sz="2400" dirty="0"/>
          </a:p>
        </p:txBody>
      </p:sp>
      <p:sp>
        <p:nvSpPr>
          <p:cNvPr id="14" name="Text 12"/>
          <p:cNvSpPr/>
          <p:nvPr/>
        </p:nvSpPr>
        <p:spPr>
          <a:xfrm>
            <a:off x="8208466" y="1706860"/>
            <a:ext cx="325277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8F1E9"/>
                </a:solidFill>
                <a:latin typeface="Inter" pitchFamily="34" charset="0"/>
                <a:ea typeface="Inter" pitchFamily="34" charset="-122"/>
                <a:cs typeface="Inter" pitchFamily="34" charset="-120"/>
              </a:rPr>
              <a:t>typical miss in points for a new study</a:t>
            </a:r>
            <a:endParaRPr lang="en-US" sz="1600" dirty="0"/>
          </a:p>
        </p:txBody>
      </p:sp>
      <p:sp>
        <p:nvSpPr>
          <p:cNvPr id="15" name="Shape 13"/>
          <p:cNvSpPr/>
          <p:nvPr/>
        </p:nvSpPr>
        <p:spPr>
          <a:xfrm>
            <a:off x="635000" y="2565301"/>
            <a:ext cx="3539034" cy="2806799"/>
          </a:xfrm>
          <a:prstGeom prst="roundRect">
            <a:avLst>
              <a:gd name="adj" fmla="val 3167"/>
            </a:avLst>
          </a:prstGeom>
          <a:solidFill>
            <a:srgbClr val="FFFFFF"/>
          </a:solidFill>
          <a:ln/>
          <a:effectLst>
            <a:outerShdw sx="100000" sy="100000" kx="0" ky="0" algn="bl" rotWithShape="0" blurRad="101600" dist="25400" dir="5400000">
              <a:srgbClr val="5A252C">
                <a:alpha val="18000"/>
              </a:srgbClr>
            </a:outerShdw>
          </a:effectLst>
        </p:spPr>
      </p:sp>
      <p:sp>
        <p:nvSpPr>
          <p:cNvPr id="16" name="Shape 14"/>
          <p:cNvSpPr/>
          <p:nvPr/>
        </p:nvSpPr>
        <p:spPr>
          <a:xfrm>
            <a:off x="635000" y="2565301"/>
            <a:ext cx="3539034" cy="2806799"/>
          </a:xfrm>
          <a:custGeom>
            <a:avLst/>
            <a:gdLst/>
            <a:ahLst/>
            <a:cxnLst/>
            <a:rect l="l" t="t" r="r" b="b"/>
            <a:pathLst>
              <a:path w="3539034" h="2806799">
                <a:moveTo>
                  <a:pt x="0" y="88900"/>
                </a:moveTo>
                <a:lnTo>
                  <a:pt x="0" y="88900"/>
                </a:lnTo>
                <a:arcTo hR="88900" wR="88900" stAng="10800000" swAng="5400000"/>
                <a:lnTo>
                  <a:pt x="3450134" y="0"/>
                </a:lnTo>
                <a:arcTo hR="88900" wR="88900" stAng="16200000" swAng="5400000"/>
                <a:lnTo>
                  <a:pt x="3539034" y="88900"/>
                </a:lnTo>
                <a:arcTo hR="25400" wR="88900" stAng="0" swAng="-5400000"/>
                <a:lnTo>
                  <a:pt x="88900" y="63500"/>
                </a:lnTo>
                <a:arcTo hR="25400" wR="88900" stAng="16200000" swAng="-5400000"/>
                <a:close/>
              </a:path>
            </a:pathLst>
          </a:custGeom>
          <a:solidFill>
            <a:srgbClr val="C97979"/>
          </a:solidFill>
          <a:ln/>
        </p:spPr>
      </p:sp>
      <p:sp>
        <p:nvSpPr>
          <p:cNvPr id="17" name="Text 15"/>
          <p:cNvSpPr/>
          <p:nvPr/>
        </p:nvSpPr>
        <p:spPr>
          <a:xfrm>
            <a:off x="800100" y="2755801"/>
            <a:ext cx="330509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A252C"/>
                </a:solidFill>
                <a:latin typeface="Poppins" pitchFamily="34" charset="0"/>
                <a:ea typeface="Poppins" pitchFamily="34" charset="-122"/>
                <a:cs typeface="Poppins" pitchFamily="34" charset="-120"/>
              </a:rPr>
              <a:t>Skewed residuals</a:t>
            </a:r>
            <a:endParaRPr lang="en-US" sz="2000" dirty="0"/>
          </a:p>
        </p:txBody>
      </p:sp>
      <p:sp>
        <p:nvSpPr>
          <p:cNvPr id="18" name="Text 16"/>
          <p:cNvSpPr/>
          <p:nvPr/>
        </p:nvSpPr>
        <p:spPr>
          <a:xfrm>
            <a:off x="800100" y="3174901"/>
            <a:ext cx="3305099"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1417"/>
                </a:solidFill>
                <a:latin typeface="Inter" pitchFamily="34" charset="0"/>
                <a:ea typeface="Inter" pitchFamily="34" charset="-122"/>
                <a:cs typeface="Inter" pitchFamily="34" charset="-120"/>
              </a:rPr>
              <a:t>Shapiro–Wilk p = .006 / .003, so we use clustered errors and a bootstrap.</a:t>
            </a:r>
            <a:endParaRPr lang="en-US" sz="1800" dirty="0"/>
          </a:p>
        </p:txBody>
      </p:sp>
      <p:sp>
        <p:nvSpPr>
          <p:cNvPr id="19" name="Shape 17"/>
          <p:cNvSpPr/>
          <p:nvPr/>
        </p:nvSpPr>
        <p:spPr>
          <a:xfrm>
            <a:off x="4326434" y="2565301"/>
            <a:ext cx="3539133" cy="2806799"/>
          </a:xfrm>
          <a:prstGeom prst="roundRect">
            <a:avLst>
              <a:gd name="adj" fmla="val 3167"/>
            </a:avLst>
          </a:prstGeom>
          <a:solidFill>
            <a:srgbClr val="FFFFFF"/>
          </a:solidFill>
          <a:ln/>
          <a:effectLst>
            <a:outerShdw sx="100000" sy="100000" kx="0" ky="0" algn="bl" rotWithShape="0" blurRad="101600" dist="25400" dir="5400000">
              <a:srgbClr val="5A252C">
                <a:alpha val="18000"/>
              </a:srgbClr>
            </a:outerShdw>
          </a:effectLst>
        </p:spPr>
      </p:sp>
      <p:sp>
        <p:nvSpPr>
          <p:cNvPr id="20" name="Shape 18"/>
          <p:cNvSpPr/>
          <p:nvPr/>
        </p:nvSpPr>
        <p:spPr>
          <a:xfrm>
            <a:off x="4326434" y="2565301"/>
            <a:ext cx="3539133" cy="2806799"/>
          </a:xfrm>
          <a:custGeom>
            <a:avLst/>
            <a:gdLst/>
            <a:ahLst/>
            <a:cxnLst/>
            <a:rect l="l" t="t" r="r" b="b"/>
            <a:pathLst>
              <a:path w="3539133" h="2806799">
                <a:moveTo>
                  <a:pt x="0" y="88900"/>
                </a:moveTo>
                <a:lnTo>
                  <a:pt x="0" y="88900"/>
                </a:lnTo>
                <a:arcTo hR="88900" wR="88900" stAng="10800000" swAng="5400000"/>
                <a:lnTo>
                  <a:pt x="3450233" y="0"/>
                </a:lnTo>
                <a:arcTo hR="88900" wR="88900" stAng="16200000" swAng="5400000"/>
                <a:lnTo>
                  <a:pt x="3539133" y="88900"/>
                </a:lnTo>
                <a:arcTo hR="25400" wR="88900" stAng="0" swAng="-5400000"/>
                <a:lnTo>
                  <a:pt x="88900" y="63500"/>
                </a:lnTo>
                <a:arcTo hR="25400" wR="88900" stAng="16200000" swAng="-5400000"/>
                <a:close/>
              </a:path>
            </a:pathLst>
          </a:custGeom>
          <a:solidFill>
            <a:srgbClr val="C97979"/>
          </a:solidFill>
          <a:ln/>
        </p:spPr>
      </p:sp>
      <p:sp>
        <p:nvSpPr>
          <p:cNvPr id="21" name="Text 19"/>
          <p:cNvSpPr/>
          <p:nvPr/>
        </p:nvSpPr>
        <p:spPr>
          <a:xfrm>
            <a:off x="4491534" y="2755801"/>
            <a:ext cx="330520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A252C"/>
                </a:solidFill>
                <a:latin typeface="Poppins" pitchFamily="34" charset="0"/>
                <a:ea typeface="Poppins" pitchFamily="34" charset="-122"/>
                <a:cs typeface="Poppins" pitchFamily="34" charset="-120"/>
              </a:rPr>
              <a:t>Study clustering</a:t>
            </a:r>
            <a:endParaRPr lang="en-US" sz="2000" dirty="0"/>
          </a:p>
        </p:txBody>
      </p:sp>
      <p:sp>
        <p:nvSpPr>
          <p:cNvPr id="22" name="Text 20"/>
          <p:cNvSpPr/>
          <p:nvPr/>
        </p:nvSpPr>
        <p:spPr>
          <a:xfrm>
            <a:off x="4491534" y="3174901"/>
            <a:ext cx="3305201"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1417"/>
                </a:solidFill>
                <a:latin typeface="Inter" pitchFamily="34" charset="0"/>
                <a:ea typeface="Inter" pitchFamily="34" charset="-122"/>
                <a:cs typeface="Inter" pitchFamily="34" charset="-120"/>
              </a:rPr>
              <a:t>Intraclass correlation .55 / .81: groups are not independent.</a:t>
            </a:r>
            <a:endParaRPr lang="en-US" sz="1800" dirty="0"/>
          </a:p>
        </p:txBody>
      </p:sp>
      <p:sp>
        <p:nvSpPr>
          <p:cNvPr id="23" name="Shape 21"/>
          <p:cNvSpPr/>
          <p:nvPr/>
        </p:nvSpPr>
        <p:spPr>
          <a:xfrm>
            <a:off x="8017966" y="2565301"/>
            <a:ext cx="3539034" cy="2806799"/>
          </a:xfrm>
          <a:prstGeom prst="roundRect">
            <a:avLst>
              <a:gd name="adj" fmla="val 3167"/>
            </a:avLst>
          </a:prstGeom>
          <a:solidFill>
            <a:srgbClr val="FFFFFF"/>
          </a:solidFill>
          <a:ln/>
          <a:effectLst>
            <a:outerShdw sx="100000" sy="100000" kx="0" ky="0" algn="bl" rotWithShape="0" blurRad="101600" dist="25400" dir="5400000">
              <a:srgbClr val="5A252C">
                <a:alpha val="18000"/>
              </a:srgbClr>
            </a:outerShdw>
          </a:effectLst>
        </p:spPr>
      </p:sp>
      <p:sp>
        <p:nvSpPr>
          <p:cNvPr id="24" name="Shape 22"/>
          <p:cNvSpPr/>
          <p:nvPr/>
        </p:nvSpPr>
        <p:spPr>
          <a:xfrm>
            <a:off x="8017966" y="2565301"/>
            <a:ext cx="3539034" cy="2806799"/>
          </a:xfrm>
          <a:custGeom>
            <a:avLst/>
            <a:gdLst/>
            <a:ahLst/>
            <a:cxnLst/>
            <a:rect l="l" t="t" r="r" b="b"/>
            <a:pathLst>
              <a:path w="3539034" h="2806799">
                <a:moveTo>
                  <a:pt x="0" y="88900"/>
                </a:moveTo>
                <a:lnTo>
                  <a:pt x="0" y="88900"/>
                </a:lnTo>
                <a:arcTo hR="88900" wR="88900" stAng="10800000" swAng="5400000"/>
                <a:lnTo>
                  <a:pt x="3450134" y="0"/>
                </a:lnTo>
                <a:arcTo hR="88900" wR="88900" stAng="16200000" swAng="5400000"/>
                <a:lnTo>
                  <a:pt x="3539034" y="88900"/>
                </a:lnTo>
                <a:arcTo hR="25400" wR="88900" stAng="0" swAng="-5400000"/>
                <a:lnTo>
                  <a:pt x="88900" y="63500"/>
                </a:lnTo>
                <a:arcTo hR="25400" wR="88900" stAng="16200000" swAng="-5400000"/>
                <a:close/>
              </a:path>
            </a:pathLst>
          </a:custGeom>
          <a:solidFill>
            <a:srgbClr val="C97979"/>
          </a:solidFill>
          <a:ln/>
        </p:spPr>
      </p:sp>
      <p:sp>
        <p:nvSpPr>
          <p:cNvPr id="25" name="Text 23"/>
          <p:cNvSpPr/>
          <p:nvPr/>
        </p:nvSpPr>
        <p:spPr>
          <a:xfrm>
            <a:off x="8183066" y="2755801"/>
            <a:ext cx="330509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5A252C"/>
                </a:solidFill>
                <a:latin typeface="Poppins" pitchFamily="34" charset="0"/>
                <a:ea typeface="Poppins" pitchFamily="34" charset="-122"/>
                <a:cs typeface="Poppins" pitchFamily="34" charset="-120"/>
              </a:rPr>
              <a:t>Robust</a:t>
            </a:r>
            <a:endParaRPr lang="en-US" sz="2000" dirty="0"/>
          </a:p>
        </p:txBody>
      </p:sp>
      <p:sp>
        <p:nvSpPr>
          <p:cNvPr id="26" name="Text 24"/>
          <p:cNvSpPr/>
          <p:nvPr/>
        </p:nvSpPr>
        <p:spPr>
          <a:xfrm>
            <a:off x="8183066" y="3174901"/>
            <a:ext cx="3305099"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B1417"/>
                </a:solidFill>
                <a:latin typeface="Inter" pitchFamily="34" charset="0"/>
                <a:ea typeface="Inter" pitchFamily="34" charset="-122"/>
                <a:cs typeface="Inter" pitchFamily="34" charset="-120"/>
              </a:rPr>
              <a:t>2,000 study resamples and five setups agree.</a:t>
            </a:r>
            <a:endParaRPr lang="en-US" sz="1800" dirty="0"/>
          </a:p>
        </p:txBody>
      </p:sp>
      <p:sp>
        <p:nvSpPr>
          <p:cNvPr id="27" name="Text 25"/>
          <p:cNvSpPr/>
          <p:nvPr/>
        </p:nvSpPr>
        <p:spPr>
          <a:xfrm>
            <a:off x="635000" y="5549900"/>
            <a:ext cx="10922000" cy="990600"/>
          </a:xfrm>
          <a:prstGeom prst="roundRect">
            <a:avLst>
              <a:gd name="adj" fmla="val 6410"/>
            </a:avLst>
          </a:prstGeom>
          <a:solidFill>
            <a:srgbClr val="5A252C"/>
          </a:solidFill>
          <a:ln/>
        </p:spPr>
        <p:txBody>
          <a:bodyPr wrap="square" lIns="286201" tIns="133801" rIns="0" bIns="108401" rtlCol="0" anchor="t">
            <a:normAutofit/>
          </a:bodyPr>
          <a:lstStyle/>
          <a:p>
            <a:pPr algn="l" indent="0" marL="0">
              <a:lnSpc>
                <a:spcPts val="2700"/>
              </a:lnSpc>
              <a:buNone/>
            </a:pPr>
            <a:r>
              <a:rPr lang="en-US" sz="2000" dirty="0">
                <a:solidFill>
                  <a:srgbClr val="FFFFFF"/>
                </a:solidFill>
                <a:latin typeface="Inter" pitchFamily="34" charset="0"/>
                <a:ea typeface="Inter" pitchFamily="34" charset="-122"/>
                <a:cs typeface="Inter" pitchFamily="34" charset="-120"/>
              </a:rPr>
              <a:t>The models describe association but </a:t>
            </a:r>
            <a:r>
              <a:rPr lang="en-US" sz="2000" b="1" dirty="0">
                <a:solidFill>
                  <a:srgbClr val="FFFFFF"/>
                </a:solidFill>
                <a:latin typeface="Inter" pitchFamily="34" charset="0"/>
                <a:ea typeface="Inter" pitchFamily="34" charset="-122"/>
                <a:cs typeface="Inter" pitchFamily="34" charset="-120"/>
              </a:rPr>
              <a:t>predict a new study poorly</a:t>
            </a:r>
            <a:r>
              <a:rPr lang="en-US" sz="2000" dirty="0">
                <a:solidFill>
                  <a:srgbClr val="FFFFFF"/>
                </a:solidFill>
                <a:latin typeface="Inter" pitchFamily="34" charset="0"/>
                <a:ea typeface="Inter" pitchFamily="34" charset="-122"/>
                <a:cs typeface="Inter" pitchFamily="34" charset="-120"/>
              </a:rPr>
              <a:t>: for muscle size, held-out R² is below the plain average; for strength it is about .05.</a:t>
            </a:r>
            <a:endParaRPr lang="en-US" sz="2000" dirty="0"/>
          </a:p>
        </p:txBody>
      </p:sp>
      <p:sp>
        <p:nvSpPr>
          <p:cNvPr id="28" name="Shape 26"/>
          <p:cNvSpPr/>
          <p:nvPr/>
        </p:nvSpPr>
        <p:spPr>
          <a:xfrm>
            <a:off x="635000" y="5549900"/>
            <a:ext cx="10922000" cy="990600"/>
          </a:xfrm>
          <a:custGeom>
            <a:avLst/>
            <a:gdLst/>
            <a:ahLst/>
            <a:cxnLst/>
            <a:rect l="l" t="t" r="r" b="b"/>
            <a:pathLst>
              <a:path w="10922000" h="990600">
                <a:moveTo>
                  <a:pt x="76200" y="990600"/>
                </a:moveTo>
                <a:lnTo>
                  <a:pt x="63500" y="990600"/>
                </a:lnTo>
                <a:arcTo hR="63500" wR="63500" stAng="5400000" swAng="5400000"/>
                <a:lnTo>
                  <a:pt x="0" y="63500"/>
                </a:lnTo>
                <a:arcTo hR="63500" wR="63500" stAng="10800000" swAng="5400000"/>
                <a:lnTo>
                  <a:pt x="76200" y="0"/>
                </a:lnTo>
                <a:lnTo>
                  <a:pt x="76200" y="990600"/>
                </a:lnTo>
                <a:close/>
              </a:path>
            </a:pathLst>
          </a:custGeom>
          <a:solidFill>
            <a:srgbClr val="C97979"/>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A252C"/>
        </a:solidFill>
      </p:bgPr>
    </p:bg>
    <p:spTree>
      <p:nvGrpSpPr>
        <p:cNvPr id="1" name=""/>
        <p:cNvGrpSpPr/>
        <p:nvPr/>
      </p:nvGrpSpPr>
      <p:grpSpPr>
        <a:xfrm>
          <a:off x="0" y="0"/>
          <a:ext cx="0" cy="0"/>
          <a:chOff x="0" y="0"/>
          <a:chExt cx="0" cy="0"/>
        </a:xfrm>
      </p:grpSpPr>
      <p:sp>
        <p:nvSpPr>
          <p:cNvPr id="2" name="Text 0"/>
          <p:cNvSpPr/>
          <p:nvPr>
            <p:ph type="title"/>
          </p:nvPr>
        </p:nvSpPr>
        <p:spPr>
          <a:xfrm>
            <a:off x="635000" y="444500"/>
            <a:ext cx="1124966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Conclusion</a:t>
            </a:r>
            <a:endParaRPr lang="en-US" sz="3400" dirty="0"/>
          </a:p>
        </p:txBody>
      </p:sp>
      <p:sp>
        <p:nvSpPr>
          <p:cNvPr id="3" name="Shape 1"/>
          <p:cNvSpPr/>
          <p:nvPr/>
        </p:nvSpPr>
        <p:spPr>
          <a:xfrm>
            <a:off x="635000" y="1084560"/>
            <a:ext cx="1143000" cy="50800"/>
          </a:xfrm>
          <a:prstGeom prst="roundRect">
            <a:avLst>
              <a:gd name="adj" fmla="val 50000"/>
            </a:avLst>
          </a:prstGeom>
          <a:solidFill>
            <a:srgbClr val="C97979"/>
          </a:solidFill>
          <a:ln/>
        </p:spPr>
      </p:sp>
      <p:sp>
        <p:nvSpPr>
          <p:cNvPr id="4" name="Text 2"/>
          <p:cNvSpPr/>
          <p:nvPr/>
        </p:nvSpPr>
        <p:spPr>
          <a:xfrm>
            <a:off x="635000" y="1391841"/>
            <a:ext cx="609600" cy="609600"/>
          </a:xfrm>
          <a:custGeom>
            <a:avLst/>
            <a:gdLst/>
            <a:ahLst/>
            <a:cxnLst/>
            <a:rect l="l" t="t" r="r" b="b"/>
            <a:pathLst>
              <a:path w="609600" h="609600">
                <a:moveTo>
                  <a:pt x="304800" y="0"/>
                </a:moveTo>
                <a:lnTo>
                  <a:pt x="304800" y="0"/>
                </a:lnTo>
                <a:arcTo hR="304800" wR="304800" stAng="16200000" swAng="5400000"/>
                <a:lnTo>
                  <a:pt x="609600" y="304800"/>
                </a:lnTo>
                <a:arcTo hR="304800" wR="304800" stAng="0" swAng="5400000"/>
                <a:lnTo>
                  <a:pt x="304800" y="609600"/>
                </a:lnTo>
                <a:arcTo hR="304800" wR="304800" stAng="5400000" swAng="5400000"/>
                <a:lnTo>
                  <a:pt x="0" y="304800"/>
                </a:lnTo>
                <a:arcTo hR="304800" wR="304800" stAng="10800000" swAng="5400000"/>
                <a:close/>
              </a:path>
            </a:pathLst>
          </a:custGeom>
          <a:solidFill>
            <a:srgbClr val="C97979"/>
          </a:solidFill>
          <a:ln/>
        </p:spPr>
        <p:txBody>
          <a:bodyPr wrap="square" lIns="0" tIns="0" rIns="0" bIns="0" rtlCol="0" anchor="t">
            <a:normAutofit/>
          </a:bodyPr>
          <a:lstStyle/>
          <a:p>
            <a:pPr algn="ctr" indent="0" marL="0">
              <a:lnSpc>
                <a:spcPts val="4810"/>
              </a:lnSpc>
              <a:buNone/>
            </a:pPr>
            <a:r>
              <a:rPr lang="en-US" sz="2600" b="1" dirty="0">
                <a:solidFill>
                  <a:srgbClr val="5A252C"/>
                </a:solidFill>
                <a:latin typeface="Poppins" pitchFamily="34" charset="0"/>
                <a:ea typeface="Poppins" pitchFamily="34" charset="-122"/>
                <a:cs typeface="Poppins" pitchFamily="34" charset="-120"/>
              </a:rPr>
              <a:t>1</a:t>
            </a:r>
            <a:endParaRPr lang="en-US" sz="2600" dirty="0"/>
          </a:p>
        </p:txBody>
      </p:sp>
      <p:sp>
        <p:nvSpPr>
          <p:cNvPr id="5" name="Text 3"/>
          <p:cNvSpPr/>
          <p:nvPr/>
        </p:nvSpPr>
        <p:spPr>
          <a:xfrm>
            <a:off x="1435100" y="1300460"/>
            <a:ext cx="10203180" cy="817761"/>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FFFFF"/>
                </a:solidFill>
                <a:latin typeface="Inter" pitchFamily="34" charset="0"/>
                <a:ea typeface="Inter" pitchFamily="34" charset="-122"/>
                <a:cs typeface="Inter" pitchFamily="34" charset="-120"/>
              </a:rPr>
              <a:t>More weekly sets go with more muscle growth: +2.4 points per 10 sets.</a:t>
            </a:r>
            <a:endParaRPr lang="en-US" sz="2400" dirty="0"/>
          </a:p>
        </p:txBody>
      </p:sp>
      <p:sp>
        <p:nvSpPr>
          <p:cNvPr id="6" name="Text 4"/>
          <p:cNvSpPr/>
          <p:nvPr/>
        </p:nvSpPr>
        <p:spPr>
          <a:xfrm>
            <a:off x="635000" y="2349302"/>
            <a:ext cx="609600" cy="609600"/>
          </a:xfrm>
          <a:custGeom>
            <a:avLst/>
            <a:gdLst/>
            <a:ahLst/>
            <a:cxnLst/>
            <a:rect l="l" t="t" r="r" b="b"/>
            <a:pathLst>
              <a:path w="609600" h="609600">
                <a:moveTo>
                  <a:pt x="304800" y="0"/>
                </a:moveTo>
                <a:lnTo>
                  <a:pt x="304800" y="0"/>
                </a:lnTo>
                <a:arcTo hR="304800" wR="304800" stAng="16200000" swAng="5400000"/>
                <a:lnTo>
                  <a:pt x="609600" y="304800"/>
                </a:lnTo>
                <a:arcTo hR="304800" wR="304800" stAng="0" swAng="5400000"/>
                <a:lnTo>
                  <a:pt x="304800" y="609600"/>
                </a:lnTo>
                <a:arcTo hR="304800" wR="304800" stAng="5400000" swAng="5400000"/>
                <a:lnTo>
                  <a:pt x="0" y="304800"/>
                </a:lnTo>
                <a:arcTo hR="304800" wR="304800" stAng="10800000" swAng="5400000"/>
                <a:close/>
              </a:path>
            </a:pathLst>
          </a:custGeom>
          <a:solidFill>
            <a:srgbClr val="C97979"/>
          </a:solidFill>
          <a:ln/>
        </p:spPr>
        <p:txBody>
          <a:bodyPr wrap="square" lIns="0" tIns="0" rIns="0" bIns="0" rtlCol="0" anchor="t">
            <a:normAutofit/>
          </a:bodyPr>
          <a:lstStyle/>
          <a:p>
            <a:pPr algn="ctr" indent="0" marL="0">
              <a:lnSpc>
                <a:spcPts val="4810"/>
              </a:lnSpc>
              <a:buNone/>
            </a:pPr>
            <a:r>
              <a:rPr lang="en-US" sz="2600" b="1" dirty="0">
                <a:solidFill>
                  <a:srgbClr val="5A252C"/>
                </a:solidFill>
                <a:latin typeface="Poppins" pitchFamily="34" charset="0"/>
                <a:ea typeface="Poppins" pitchFamily="34" charset="-122"/>
                <a:cs typeface="Poppins" pitchFamily="34" charset="-120"/>
              </a:rPr>
              <a:t>2</a:t>
            </a:r>
            <a:endParaRPr lang="en-US" sz="2600" dirty="0"/>
          </a:p>
        </p:txBody>
      </p:sp>
      <p:sp>
        <p:nvSpPr>
          <p:cNvPr id="7" name="Text 5"/>
          <p:cNvSpPr/>
          <p:nvPr/>
        </p:nvSpPr>
        <p:spPr>
          <a:xfrm>
            <a:off x="1435100" y="2257921"/>
            <a:ext cx="10203180" cy="817761"/>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FFFFF"/>
                </a:solidFill>
                <a:latin typeface="Inter" pitchFamily="34" charset="0"/>
                <a:ea typeface="Inter" pitchFamily="34" charset="-122"/>
                <a:cs typeface="Inter" pitchFamily="34" charset="-120"/>
              </a:rPr>
              <a:t>More weekly sessions go with more strength gain: +2.0 points per session.</a:t>
            </a:r>
            <a:endParaRPr lang="en-US" sz="2400" dirty="0"/>
          </a:p>
        </p:txBody>
      </p:sp>
      <p:sp>
        <p:nvSpPr>
          <p:cNvPr id="8" name="Text 6"/>
          <p:cNvSpPr/>
          <p:nvPr/>
        </p:nvSpPr>
        <p:spPr>
          <a:xfrm>
            <a:off x="635000" y="3306763"/>
            <a:ext cx="609600" cy="609600"/>
          </a:xfrm>
          <a:custGeom>
            <a:avLst/>
            <a:gdLst/>
            <a:ahLst/>
            <a:cxnLst/>
            <a:rect l="l" t="t" r="r" b="b"/>
            <a:pathLst>
              <a:path w="609600" h="609600">
                <a:moveTo>
                  <a:pt x="304800" y="0"/>
                </a:moveTo>
                <a:lnTo>
                  <a:pt x="304800" y="0"/>
                </a:lnTo>
                <a:arcTo hR="304800" wR="304800" stAng="16200000" swAng="5400000"/>
                <a:lnTo>
                  <a:pt x="609600" y="304800"/>
                </a:lnTo>
                <a:arcTo hR="304800" wR="304800" stAng="0" swAng="5400000"/>
                <a:lnTo>
                  <a:pt x="304800" y="609600"/>
                </a:lnTo>
                <a:arcTo hR="304800" wR="304800" stAng="5400000" swAng="5400000"/>
                <a:lnTo>
                  <a:pt x="0" y="304800"/>
                </a:lnTo>
                <a:arcTo hR="304800" wR="304800" stAng="10800000" swAng="5400000"/>
                <a:close/>
              </a:path>
            </a:pathLst>
          </a:custGeom>
          <a:solidFill>
            <a:srgbClr val="C97979"/>
          </a:solidFill>
          <a:ln/>
        </p:spPr>
        <p:txBody>
          <a:bodyPr wrap="square" lIns="0" tIns="0" rIns="0" bIns="0" rtlCol="0" anchor="t">
            <a:normAutofit/>
          </a:bodyPr>
          <a:lstStyle/>
          <a:p>
            <a:pPr algn="ctr" indent="0" marL="0">
              <a:lnSpc>
                <a:spcPts val="4810"/>
              </a:lnSpc>
              <a:buNone/>
            </a:pPr>
            <a:r>
              <a:rPr lang="en-US" sz="2600" b="1" dirty="0">
                <a:solidFill>
                  <a:srgbClr val="5A252C"/>
                </a:solidFill>
                <a:latin typeface="Poppins" pitchFamily="34" charset="0"/>
                <a:ea typeface="Poppins" pitchFamily="34" charset="-122"/>
                <a:cs typeface="Poppins" pitchFamily="34" charset="-120"/>
              </a:rPr>
              <a:t>3</a:t>
            </a:r>
            <a:endParaRPr lang="en-US" sz="2600" dirty="0"/>
          </a:p>
        </p:txBody>
      </p:sp>
      <p:sp>
        <p:nvSpPr>
          <p:cNvPr id="9" name="Text 7"/>
          <p:cNvSpPr/>
          <p:nvPr/>
        </p:nvSpPr>
        <p:spPr>
          <a:xfrm>
            <a:off x="1435100" y="3215382"/>
            <a:ext cx="10203180" cy="817761"/>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FFFFF"/>
                </a:solidFill>
                <a:latin typeface="Inter" pitchFamily="34" charset="0"/>
                <a:ea typeface="Inter" pitchFamily="34" charset="-122"/>
                <a:cs typeface="Inter" pitchFamily="34" charset="-120"/>
              </a:rPr>
              <a:t>Models predict new studies poorly: most variation is between studies.</a:t>
            </a:r>
            <a:endParaRPr lang="en-US" sz="2400" dirty="0"/>
          </a:p>
        </p:txBody>
      </p:sp>
      <p:sp>
        <p:nvSpPr>
          <p:cNvPr id="10" name="Shape 8"/>
          <p:cNvSpPr/>
          <p:nvPr/>
        </p:nvSpPr>
        <p:spPr>
          <a:xfrm>
            <a:off x="635000" y="4172843"/>
            <a:ext cx="5302250" cy="2022177"/>
          </a:xfrm>
          <a:prstGeom prst="roundRect">
            <a:avLst>
              <a:gd name="adj" fmla="val 4396"/>
            </a:avLst>
          </a:prstGeom>
          <a:solidFill>
            <a:srgbClr val="7A2F36"/>
          </a:solidFill>
          <a:ln/>
        </p:spPr>
      </p:sp>
      <p:sp>
        <p:nvSpPr>
          <p:cNvPr id="11" name="Text 9"/>
          <p:cNvSpPr/>
          <p:nvPr/>
        </p:nvSpPr>
        <p:spPr>
          <a:xfrm>
            <a:off x="838200" y="4325243"/>
            <a:ext cx="5042726" cy="434280"/>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C97979"/>
                </a:solidFill>
                <a:latin typeface="Poppins" pitchFamily="34" charset="0"/>
                <a:ea typeface="Poppins" pitchFamily="34" charset="-122"/>
                <a:cs typeface="Poppins" pitchFamily="34" charset="-120"/>
              </a:rPr>
              <a:t>Limitations</a:t>
            </a:r>
            <a:endParaRPr lang="en-US" sz="2300" dirty="0"/>
          </a:p>
        </p:txBody>
      </p:sp>
      <p:sp>
        <p:nvSpPr>
          <p:cNvPr id="12" name="Shape 10"/>
          <p:cNvSpPr/>
          <p:nvPr/>
        </p:nvSpPr>
        <p:spPr>
          <a:xfrm>
            <a:off x="838200" y="4810323"/>
            <a:ext cx="127000" cy="127000"/>
          </a:xfrm>
          <a:prstGeom prst="roundRect">
            <a:avLst>
              <a:gd name="adj" fmla="val 20000"/>
            </a:avLst>
          </a:prstGeom>
          <a:solidFill>
            <a:srgbClr val="C97979"/>
          </a:solidFill>
          <a:ln/>
        </p:spPr>
      </p:sp>
      <p:sp>
        <p:nvSpPr>
          <p:cNvPr id="13" name="Text 11"/>
          <p:cNvSpPr/>
          <p:nvPr/>
        </p:nvSpPr>
        <p:spPr>
          <a:xfrm>
            <a:off x="1117600" y="4810323"/>
            <a:ext cx="4819650" cy="385366"/>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Group averages, association only.</a:t>
            </a:r>
            <a:endParaRPr lang="en-US" sz="2100" dirty="0"/>
          </a:p>
        </p:txBody>
      </p:sp>
      <p:sp>
        <p:nvSpPr>
          <p:cNvPr id="14" name="Shape 12"/>
          <p:cNvSpPr/>
          <p:nvPr/>
        </p:nvSpPr>
        <p:spPr>
          <a:xfrm>
            <a:off x="838200" y="5246489"/>
            <a:ext cx="127000" cy="127000"/>
          </a:xfrm>
          <a:prstGeom prst="roundRect">
            <a:avLst>
              <a:gd name="adj" fmla="val 20000"/>
            </a:avLst>
          </a:prstGeom>
          <a:solidFill>
            <a:srgbClr val="C97979"/>
          </a:solidFill>
          <a:ln/>
        </p:spPr>
      </p:sp>
      <p:sp>
        <p:nvSpPr>
          <p:cNvPr id="15" name="Text 13"/>
          <p:cNvSpPr/>
          <p:nvPr/>
        </p:nvSpPr>
        <p:spPr>
          <a:xfrm>
            <a:off x="1117600" y="5246489"/>
            <a:ext cx="4207431" cy="385366"/>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Few low-frequency groups.</a:t>
            </a:r>
            <a:endParaRPr lang="en-US" sz="2100" dirty="0"/>
          </a:p>
        </p:txBody>
      </p:sp>
      <p:sp>
        <p:nvSpPr>
          <p:cNvPr id="16" name="Shape 14"/>
          <p:cNvSpPr/>
          <p:nvPr/>
        </p:nvSpPr>
        <p:spPr>
          <a:xfrm>
            <a:off x="838200" y="5682655"/>
            <a:ext cx="127000" cy="127000"/>
          </a:xfrm>
          <a:prstGeom prst="roundRect">
            <a:avLst>
              <a:gd name="adj" fmla="val 20000"/>
            </a:avLst>
          </a:prstGeom>
          <a:solidFill>
            <a:srgbClr val="C97979"/>
          </a:solidFill>
          <a:ln/>
        </p:spPr>
      </p:sp>
      <p:sp>
        <p:nvSpPr>
          <p:cNvPr id="17" name="Text 15"/>
          <p:cNvSpPr/>
          <p:nvPr/>
        </p:nvSpPr>
        <p:spPr>
          <a:xfrm>
            <a:off x="1117600" y="5682655"/>
            <a:ext cx="2997518" cy="385366"/>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No protein variable.</a:t>
            </a:r>
            <a:endParaRPr lang="en-US" sz="2100" dirty="0"/>
          </a:p>
        </p:txBody>
      </p:sp>
      <p:sp>
        <p:nvSpPr>
          <p:cNvPr id="18" name="Shape 16"/>
          <p:cNvSpPr/>
          <p:nvPr/>
        </p:nvSpPr>
        <p:spPr>
          <a:xfrm>
            <a:off x="6254750" y="4172843"/>
            <a:ext cx="5302250" cy="2022177"/>
          </a:xfrm>
          <a:prstGeom prst="roundRect">
            <a:avLst>
              <a:gd name="adj" fmla="val 4396"/>
            </a:avLst>
          </a:prstGeom>
          <a:solidFill>
            <a:srgbClr val="9E3F3F"/>
          </a:solidFill>
          <a:ln/>
        </p:spPr>
      </p:sp>
      <p:sp>
        <p:nvSpPr>
          <p:cNvPr id="19" name="Text 17"/>
          <p:cNvSpPr/>
          <p:nvPr/>
        </p:nvSpPr>
        <p:spPr>
          <a:xfrm>
            <a:off x="6457950" y="4325243"/>
            <a:ext cx="5042726" cy="434280"/>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C97979"/>
                </a:solidFill>
                <a:latin typeface="Poppins" pitchFamily="34" charset="0"/>
                <a:ea typeface="Poppins" pitchFamily="34" charset="-122"/>
                <a:cs typeface="Poppins" pitchFamily="34" charset="-120"/>
              </a:rPr>
              <a:t>Next step</a:t>
            </a:r>
            <a:endParaRPr lang="en-US" sz="2300" dirty="0"/>
          </a:p>
        </p:txBody>
      </p:sp>
      <p:sp>
        <p:nvSpPr>
          <p:cNvPr id="20" name="Shape 18"/>
          <p:cNvSpPr/>
          <p:nvPr/>
        </p:nvSpPr>
        <p:spPr>
          <a:xfrm>
            <a:off x="6457950" y="4810323"/>
            <a:ext cx="127000" cy="127000"/>
          </a:xfrm>
          <a:prstGeom prst="roundRect">
            <a:avLst>
              <a:gd name="adj" fmla="val 20000"/>
            </a:avLst>
          </a:prstGeom>
          <a:solidFill>
            <a:srgbClr val="C97979"/>
          </a:solidFill>
          <a:ln/>
        </p:spPr>
      </p:sp>
      <p:sp>
        <p:nvSpPr>
          <p:cNvPr id="21" name="Text 19"/>
          <p:cNvSpPr/>
          <p:nvPr/>
        </p:nvSpPr>
        <p:spPr>
          <a:xfrm>
            <a:off x="6737350" y="4810323"/>
            <a:ext cx="3186708" cy="385366"/>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Individual-level data.</a:t>
            </a:r>
            <a:endParaRPr lang="en-US" sz="2100" dirty="0"/>
          </a:p>
        </p:txBody>
      </p:sp>
      <p:sp>
        <p:nvSpPr>
          <p:cNvPr id="22" name="Shape 20"/>
          <p:cNvSpPr/>
          <p:nvPr/>
        </p:nvSpPr>
        <p:spPr>
          <a:xfrm>
            <a:off x="6457950" y="5246489"/>
            <a:ext cx="127000" cy="127000"/>
          </a:xfrm>
          <a:prstGeom prst="roundRect">
            <a:avLst>
              <a:gd name="adj" fmla="val 20000"/>
            </a:avLst>
          </a:prstGeom>
          <a:solidFill>
            <a:srgbClr val="C97979"/>
          </a:solidFill>
          <a:ln/>
        </p:spPr>
      </p:sp>
      <p:sp>
        <p:nvSpPr>
          <p:cNvPr id="23" name="Text 21"/>
          <p:cNvSpPr/>
          <p:nvPr/>
        </p:nvSpPr>
        <p:spPr>
          <a:xfrm>
            <a:off x="6737350" y="5246489"/>
            <a:ext cx="3801785" cy="385366"/>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Measured protein intake.</a:t>
            </a:r>
            <a:endParaRPr lang="en-US" sz="2100" dirty="0"/>
          </a:p>
        </p:txBody>
      </p:sp>
      <p:sp>
        <p:nvSpPr>
          <p:cNvPr id="24" name="Shape 22"/>
          <p:cNvSpPr/>
          <p:nvPr/>
        </p:nvSpPr>
        <p:spPr>
          <a:xfrm>
            <a:off x="6457950" y="5682655"/>
            <a:ext cx="127000" cy="127000"/>
          </a:xfrm>
          <a:prstGeom prst="roundRect">
            <a:avLst>
              <a:gd name="adj" fmla="val 20000"/>
            </a:avLst>
          </a:prstGeom>
          <a:solidFill>
            <a:srgbClr val="C97979"/>
          </a:solidFill>
          <a:ln/>
        </p:spPr>
      </p:sp>
      <p:sp>
        <p:nvSpPr>
          <p:cNvPr id="25" name="Text 23"/>
          <p:cNvSpPr/>
          <p:nvPr/>
        </p:nvSpPr>
        <p:spPr>
          <a:xfrm>
            <a:off x="6737350" y="5682655"/>
            <a:ext cx="3498294" cy="385366"/>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FFFFFF"/>
                </a:solidFill>
                <a:latin typeface="Inter" pitchFamily="34" charset="0"/>
                <a:ea typeface="Inter" pitchFamily="34" charset="-122"/>
                <a:cs typeface="Inter" pitchFamily="34" charset="-120"/>
              </a:rPr>
              <a:t>Thank you. Questions?</a:t>
            </a:r>
            <a:endParaRPr lang="en-US" sz="2100" dirty="0"/>
          </a:p>
        </p:txBody>
      </p:sp>
      <p:sp>
        <p:nvSpPr>
          <p:cNvPr id="26" name="Text 24"/>
          <p:cNvSpPr/>
          <p:nvPr/>
        </p:nvSpPr>
        <p:spPr>
          <a:xfrm>
            <a:off x="10934700" y="4445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13</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1E9"/>
        </a:solidFill>
      </p:bgPr>
    </p:bg>
    <p:spTree>
      <p:nvGrpSpPr>
        <p:cNvPr id="1" name=""/>
        <p:cNvGrpSpPr/>
        <p:nvPr/>
      </p:nvGrpSpPr>
      <p:grpSpPr>
        <a:xfrm>
          <a:off x="0" y="0"/>
          <a:ext cx="0" cy="0"/>
          <a:chOff x="0" y="0"/>
          <a:chExt cx="0" cy="0"/>
        </a:xfrm>
      </p:grpSpPr>
      <p:sp>
        <p:nvSpPr>
          <p:cNvPr id="2" name="Shape 0"/>
          <p:cNvSpPr/>
          <p:nvPr/>
        </p:nvSpPr>
        <p:spPr>
          <a:xfrm>
            <a:off x="0" y="0"/>
            <a:ext cx="12192000" cy="889000"/>
          </a:xfrm>
          <a:prstGeom prst="rect">
            <a:avLst/>
          </a:prstGeom>
          <a:solidFill>
            <a:srgbClr val="5A252C"/>
          </a:solidFill>
          <a:ln/>
        </p:spPr>
      </p:sp>
      <p:sp>
        <p:nvSpPr>
          <p:cNvPr id="3" name="Shape 1"/>
          <p:cNvSpPr/>
          <p:nvPr/>
        </p:nvSpPr>
        <p:spPr>
          <a:xfrm>
            <a:off x="0" y="889000"/>
            <a:ext cx="12192000" cy="50800"/>
          </a:xfrm>
          <a:prstGeom prst="rect">
            <a:avLst/>
          </a:prstGeom>
          <a:solidFill>
            <a:srgbClr val="C97979"/>
          </a:solidFill>
          <a:ln/>
        </p:spPr>
      </p:sp>
      <p:sp>
        <p:nvSpPr>
          <p:cNvPr id="4" name="Text 2"/>
          <p:cNvSpPr/>
          <p:nvPr>
            <p:ph type="title"/>
          </p:nvPr>
        </p:nvSpPr>
        <p:spPr>
          <a:xfrm>
            <a:off x="635000" y="0"/>
            <a:ext cx="9810750"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Poppins" pitchFamily="34" charset="0"/>
                <a:ea typeface="Poppins" pitchFamily="34" charset="-122"/>
                <a:cs typeface="Poppins" pitchFamily="34" charset="-120"/>
              </a:rPr>
              <a:t>References</a:t>
            </a:r>
            <a:endParaRPr lang="en-US" sz="3400" dirty="0"/>
          </a:p>
        </p:txBody>
      </p:sp>
      <p:sp>
        <p:nvSpPr>
          <p:cNvPr id="5" name="Text 3"/>
          <p:cNvSpPr/>
          <p:nvPr/>
        </p:nvSpPr>
        <p:spPr>
          <a:xfrm>
            <a:off x="10934700" y="241300"/>
            <a:ext cx="622300" cy="431800"/>
          </a:xfrm>
          <a:prstGeom prst="rect">
            <a:avLst/>
          </a:prstGeom>
          <a:noFill/>
          <a:ln/>
        </p:spPr>
        <p:txBody>
          <a:bodyPr wrap="square" lIns="0" tIns="0" rIns="0" bIns="0" rtlCol="0" anchor="t">
            <a:normAutofit/>
          </a:bodyPr>
          <a:lstStyle/>
          <a:p>
            <a:pPr algn="r" indent="0" marL="0">
              <a:lnSpc>
                <a:spcPts val="3200"/>
              </a:lnSpc>
              <a:buNone/>
            </a:pPr>
            <a:r>
              <a:rPr lang="en-US" sz="2000" b="1" dirty="0">
                <a:solidFill>
                  <a:srgbClr val="C97979"/>
                </a:solidFill>
                <a:latin typeface="Poppins" pitchFamily="34" charset="0"/>
                <a:ea typeface="Poppins" pitchFamily="34" charset="-122"/>
                <a:cs typeface="Poppins" pitchFamily="34" charset="-120"/>
              </a:rPr>
              <a:t>14</a:t>
            </a:r>
            <a:endParaRPr lang="en-US" sz="2000" dirty="0"/>
          </a:p>
        </p:txBody>
      </p:sp>
      <p:sp>
        <p:nvSpPr>
          <p:cNvPr id="6" name="Shape 4"/>
          <p:cNvSpPr/>
          <p:nvPr/>
        </p:nvSpPr>
        <p:spPr>
          <a:xfrm>
            <a:off x="635000" y="1181100"/>
            <a:ext cx="10922000" cy="5106591"/>
          </a:xfrm>
          <a:prstGeom prst="roundRect">
            <a:avLst>
              <a:gd name="adj" fmla="val 1741"/>
            </a:avLst>
          </a:prstGeom>
          <a:solidFill>
            <a:srgbClr val="FFFFFF"/>
          </a:solidFill>
          <a:ln/>
          <a:effectLst>
            <a:outerShdw sx="100000" sy="100000" kx="0" ky="0" algn="bl" rotWithShape="0" blurRad="101600" dist="25400" dir="5400000">
              <a:srgbClr val="5A252C">
                <a:alpha val="18000"/>
              </a:srgbClr>
            </a:outerShdw>
          </a:effectLst>
        </p:spPr>
      </p:sp>
      <p:sp>
        <p:nvSpPr>
          <p:cNvPr id="7" name="Text 5"/>
          <p:cNvSpPr/>
          <p:nvPr/>
        </p:nvSpPr>
        <p:spPr>
          <a:xfrm>
            <a:off x="1219200" y="1333500"/>
            <a:ext cx="104124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1417"/>
                </a:solidFill>
                <a:latin typeface="Inter" pitchFamily="34" charset="0"/>
                <a:ea typeface="Inter" pitchFamily="34" charset="-122"/>
                <a:cs typeface="Inter" pitchFamily="34" charset="-120"/>
              </a:rPr>
              <a:t>Efron, B., &amp; Tibshirani, R. J. (1993). </a:t>
            </a:r>
            <a:r>
              <a:rPr lang="en-US" sz="1400" i="1" dirty="0">
                <a:solidFill>
                  <a:srgbClr val="2B1417"/>
                </a:solidFill>
                <a:latin typeface="Inter" pitchFamily="34" charset="0"/>
                <a:ea typeface="Inter" pitchFamily="34" charset="-122"/>
                <a:cs typeface="Inter" pitchFamily="34" charset="-120"/>
              </a:rPr>
              <a:t>An introduction to the bootstrap</a:t>
            </a:r>
            <a:r>
              <a:rPr lang="en-US" sz="1400" dirty="0">
                <a:solidFill>
                  <a:srgbClr val="2B1417"/>
                </a:solidFill>
                <a:latin typeface="Inter" pitchFamily="34" charset="0"/>
                <a:ea typeface="Inter" pitchFamily="34" charset="-122"/>
                <a:cs typeface="Inter" pitchFamily="34" charset="-120"/>
              </a:rPr>
              <a:t>. Chapman &amp; Hall.</a:t>
            </a:r>
            <a:endParaRPr lang="en-US" sz="1400" dirty="0"/>
          </a:p>
        </p:txBody>
      </p:sp>
      <p:sp>
        <p:nvSpPr>
          <p:cNvPr id="8" name="Text 6"/>
          <p:cNvSpPr/>
          <p:nvPr/>
        </p:nvSpPr>
        <p:spPr>
          <a:xfrm>
            <a:off x="1219200" y="1696641"/>
            <a:ext cx="10412476"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1417"/>
                </a:solidFill>
                <a:latin typeface="Inter" pitchFamily="34" charset="0"/>
                <a:ea typeface="Inter" pitchFamily="34" charset="-122"/>
                <a:cs typeface="Inter" pitchFamily="34" charset="-120"/>
              </a:rPr>
              <a:t>Morton, R. W., Murphy, K. T., McKellar, S. R., Schoenfeld, B. J., Henselmans, M., Helms, E., Aragon, A. A., Devries, M. C., Banfield, L., Krieger, J. W., &amp; Phillips, S. M. (2018). A systematic review, meta-analysis and meta-regression of the effect of protein supplementation on resistance training-induced gains in muscle mass and strength in healthy adults. </a:t>
            </a:r>
            <a:r>
              <a:rPr lang="en-US" sz="1400" i="1" dirty="0">
                <a:solidFill>
                  <a:srgbClr val="2B1417"/>
                </a:solidFill>
                <a:latin typeface="Inter" pitchFamily="34" charset="0"/>
                <a:ea typeface="Inter" pitchFamily="34" charset="-122"/>
                <a:cs typeface="Inter" pitchFamily="34" charset="-120"/>
              </a:rPr>
              <a:t>British Journal of Sports Medicine, 52</a:t>
            </a:r>
            <a:r>
              <a:rPr lang="en-US" sz="1400" dirty="0">
                <a:solidFill>
                  <a:srgbClr val="2B1417"/>
                </a:solidFill>
                <a:latin typeface="Inter" pitchFamily="34" charset="0"/>
                <a:ea typeface="Inter" pitchFamily="34" charset="-122"/>
                <a:cs typeface="Inter" pitchFamily="34" charset="-120"/>
              </a:rPr>
              <a:t>(6), 376–384. https://doi.org/10.1136/bjsports-2017-097608</a:t>
            </a:r>
            <a:endParaRPr lang="en-US" sz="1400" dirty="0"/>
          </a:p>
        </p:txBody>
      </p:sp>
      <p:sp>
        <p:nvSpPr>
          <p:cNvPr id="9" name="Text 7"/>
          <p:cNvSpPr/>
          <p:nvPr/>
        </p:nvSpPr>
        <p:spPr>
          <a:xfrm>
            <a:off x="1219200" y="2806303"/>
            <a:ext cx="104124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1417"/>
                </a:solidFill>
                <a:latin typeface="Inter" pitchFamily="34" charset="0"/>
                <a:ea typeface="Inter" pitchFamily="34" charset="-122"/>
                <a:cs typeface="Inter" pitchFamily="34" charset="-120"/>
              </a:rPr>
              <a:t>Pelland, J. C., Remmert, J. F., Robinson, Z. P., Hinson, S. R., &amp; Zourdos, M. C. (2025). </a:t>
            </a:r>
            <a:r>
              <a:rPr lang="en-US" sz="1400" i="1" dirty="0">
                <a:solidFill>
                  <a:srgbClr val="2B1417"/>
                </a:solidFill>
                <a:latin typeface="Inter" pitchFamily="34" charset="0"/>
                <a:ea typeface="Inter" pitchFamily="34" charset="-122"/>
                <a:cs typeface="Inter" pitchFamily="34" charset="-120"/>
              </a:rPr>
              <a:t>Extracted data, analysis scripts, and supplementary materials for “The resistance training dose response”</a:t>
            </a:r>
            <a:r>
              <a:rPr lang="en-US" sz="1400" dirty="0">
                <a:solidFill>
                  <a:srgbClr val="2B1417"/>
                </a:solidFill>
                <a:latin typeface="Inter" pitchFamily="34" charset="0"/>
                <a:ea typeface="Inter" pitchFamily="34" charset="-122"/>
                <a:cs typeface="Inter" pitchFamily="34" charset="-120"/>
              </a:rPr>
              <a:t> [Data set]. Open Science Framework. https://osf.io/6z3xu</a:t>
            </a:r>
            <a:endParaRPr lang="en-US" sz="1400" dirty="0"/>
          </a:p>
        </p:txBody>
      </p:sp>
      <p:sp>
        <p:nvSpPr>
          <p:cNvPr id="10" name="Text 8"/>
          <p:cNvSpPr/>
          <p:nvPr/>
        </p:nvSpPr>
        <p:spPr>
          <a:xfrm>
            <a:off x="1219200" y="3667125"/>
            <a:ext cx="104124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1417"/>
                </a:solidFill>
                <a:latin typeface="Inter" pitchFamily="34" charset="0"/>
                <a:ea typeface="Inter" pitchFamily="34" charset="-122"/>
                <a:cs typeface="Inter" pitchFamily="34" charset="-120"/>
              </a:rPr>
              <a:t>Pelland, J. C., Remmert, J. F., Robinson, Z. P., Hinson, S. R., &amp; Zourdos, M. C. (2026). The resistance training dose response: Meta-regressions exploring the effects of weekly volume and frequency on muscle hypertrophy and strength gains. </a:t>
            </a:r>
            <a:r>
              <a:rPr lang="en-US" sz="1400" i="1" dirty="0">
                <a:solidFill>
                  <a:srgbClr val="2B1417"/>
                </a:solidFill>
                <a:latin typeface="Inter" pitchFamily="34" charset="0"/>
                <a:ea typeface="Inter" pitchFamily="34" charset="-122"/>
                <a:cs typeface="Inter" pitchFamily="34" charset="-120"/>
              </a:rPr>
              <a:t>Sports Medicine, 56</a:t>
            </a:r>
            <a:r>
              <a:rPr lang="en-US" sz="1400" dirty="0">
                <a:solidFill>
                  <a:srgbClr val="2B1417"/>
                </a:solidFill>
                <a:latin typeface="Inter" pitchFamily="34" charset="0"/>
                <a:ea typeface="Inter" pitchFamily="34" charset="-122"/>
                <a:cs typeface="Inter" pitchFamily="34" charset="-120"/>
              </a:rPr>
              <a:t>(2), 481–505. https://doi.org/10.1007/s40279-025-02344-w</a:t>
            </a:r>
            <a:endParaRPr lang="en-US" sz="1400" dirty="0"/>
          </a:p>
        </p:txBody>
      </p:sp>
      <p:sp>
        <p:nvSpPr>
          <p:cNvPr id="11" name="Text 9"/>
          <p:cNvSpPr/>
          <p:nvPr/>
        </p:nvSpPr>
        <p:spPr>
          <a:xfrm>
            <a:off x="1219200" y="4527947"/>
            <a:ext cx="104124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1417"/>
                </a:solidFill>
                <a:latin typeface="Inter" pitchFamily="34" charset="0"/>
                <a:ea typeface="Inter" pitchFamily="34" charset="-122"/>
                <a:cs typeface="Inter" pitchFamily="34" charset="-120"/>
              </a:rPr>
              <a:t>Schoenfeld, B. J., Ogborn, D., &amp; Krieger, J. W. (2016). Effects of resistance training frequency on measures of muscle hypertrophy: A systematic review and meta-analysis. </a:t>
            </a:r>
            <a:r>
              <a:rPr lang="en-US" sz="1400" i="1" dirty="0">
                <a:solidFill>
                  <a:srgbClr val="2B1417"/>
                </a:solidFill>
                <a:latin typeface="Inter" pitchFamily="34" charset="0"/>
                <a:ea typeface="Inter" pitchFamily="34" charset="-122"/>
                <a:cs typeface="Inter" pitchFamily="34" charset="-120"/>
              </a:rPr>
              <a:t>Sports Medicine, 46</a:t>
            </a:r>
            <a:r>
              <a:rPr lang="en-US" sz="1400" dirty="0">
                <a:solidFill>
                  <a:srgbClr val="2B1417"/>
                </a:solidFill>
                <a:latin typeface="Inter" pitchFamily="34" charset="0"/>
                <a:ea typeface="Inter" pitchFamily="34" charset="-122"/>
                <a:cs typeface="Inter" pitchFamily="34" charset="-120"/>
              </a:rPr>
              <a:t>(11), 1689–1697. https://doi.org/10.1007/s40279-016-0543-8</a:t>
            </a:r>
            <a:endParaRPr lang="en-US" sz="1400" dirty="0"/>
          </a:p>
        </p:txBody>
      </p:sp>
      <p:sp>
        <p:nvSpPr>
          <p:cNvPr id="12" name="Text 10"/>
          <p:cNvSpPr/>
          <p:nvPr/>
        </p:nvSpPr>
        <p:spPr>
          <a:xfrm>
            <a:off x="1219200" y="5388769"/>
            <a:ext cx="1041247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1417"/>
                </a:solidFill>
                <a:latin typeface="Inter" pitchFamily="34" charset="0"/>
                <a:ea typeface="Inter" pitchFamily="34" charset="-122"/>
                <a:cs typeface="Inter" pitchFamily="34" charset="-120"/>
              </a:rPr>
              <a:t>Tagawa, R., Watanabe, D., Ito, K., Ueda, K., Nakayama, K., Sanbongi, C., &amp; Miyachi, M. (2021). Dose–response relationship between protein intake and muscle mass increase: A systematic review and meta-analysis of randomized controlled trials. </a:t>
            </a:r>
            <a:r>
              <a:rPr lang="en-US" sz="1400" i="1" dirty="0">
                <a:solidFill>
                  <a:srgbClr val="2B1417"/>
                </a:solidFill>
                <a:latin typeface="Inter" pitchFamily="34" charset="0"/>
                <a:ea typeface="Inter" pitchFamily="34" charset="-122"/>
                <a:cs typeface="Inter" pitchFamily="34" charset="-120"/>
              </a:rPr>
              <a:t>Nutrition Reviews, 79</a:t>
            </a:r>
            <a:r>
              <a:rPr lang="en-US" sz="1400" dirty="0">
                <a:solidFill>
                  <a:srgbClr val="2B1417"/>
                </a:solidFill>
                <a:latin typeface="Inter" pitchFamily="34" charset="0"/>
                <a:ea typeface="Inter" pitchFamily="34" charset="-122"/>
                <a:cs typeface="Inter" pitchFamily="34" charset="-120"/>
              </a:rPr>
              <a:t>(1), 66–75. https://doi.org/10.1093/nutrit/nuaa104</a:t>
            </a:r>
            <a:endParaRPr lang="en-US" sz="1400" dirty="0"/>
          </a:p>
        </p:txBody>
      </p:sp>
    </p:spTree>
  </p:cSld>
  <p:clrMapOvr>
    <a:masterClrMapping/>
  </p:clrMapOvr>
</p:sld>
</file>

<file path=ppt/theme/theme1.xml><?xml version="1.0" encoding="utf-8"?>
<a:theme xmlns:a="http://schemas.openxmlformats.org/drawingml/2006/main" name="DATA200 Project Presentation">
  <a:themeElements>
    <a:clrScheme name="DATA200 Project Presentation">
      <a:dk1>
        <a:srgbClr val="2B1417"/>
      </a:dk1>
      <a:lt1>
        <a:srgbClr val="F8F1E9"/>
      </a:lt1>
      <a:dk2>
        <a:srgbClr val="5E4B4C"/>
      </a:dk2>
      <a:lt2>
        <a:srgbClr val="E4DBD4"/>
      </a:lt2>
      <a:accent1>
        <a:srgbClr val="5A252C"/>
      </a:accent1>
      <a:accent2>
        <a:srgbClr val="C97979"/>
      </a:accent2>
      <a:accent3>
        <a:srgbClr val="9E3F3F"/>
      </a:accent3>
      <a:accent4>
        <a:srgbClr val="7A2F36"/>
      </a:accent4>
      <a:accent5>
        <a:srgbClr val="6B4A4D"/>
      </a:accent5>
      <a:accent6>
        <a:srgbClr val="EBD3CB"/>
      </a:accent6>
      <a:hlink>
        <a:srgbClr val="0563C1"/>
      </a:hlink>
      <a:folHlink>
        <a:srgbClr val="954F72"/>
      </a:folHlink>
    </a:clrScheme>
    <a:fontScheme name="DATA200 Project Presentation">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DATA200 Project Presentation</dc:title>
  <dc:subject/>
  <dc:creator/>
  <cp:lastModifiedBy/>
  <cp:revision>1</cp:revision>
  <dcterms:created xsi:type="dcterms:W3CDTF">2026-10-06T17:58:07Z</dcterms:created>
  <dcterms:modified xsi:type="dcterms:W3CDTF">2026-10-06T17:58:07Z</dcterms:modified>
</cp:coreProperties>
</file>